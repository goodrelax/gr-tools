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7" d="100"/>
          <a:sy n="107" d="100"/>
        </p:scale>
        <p:origin x="636"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od Relax" userId="6e4d3e54824fd230" providerId="LiveId" clId="{71BB8839-F055-4A3A-B224-534DC05D89B6}"/>
    <pc:docChg chg="undo custSel modSld">
      <pc:chgData name="Good Relax" userId="6e4d3e54824fd230" providerId="LiveId" clId="{71BB8839-F055-4A3A-B224-534DC05D89B6}" dt="2026-06-18T22:52:28.272" v="1" actId="1076"/>
      <pc:docMkLst>
        <pc:docMk/>
      </pc:docMkLst>
      <pc:sldChg chg="modSp mod">
        <pc:chgData name="Good Relax" userId="6e4d3e54824fd230" providerId="LiveId" clId="{71BB8839-F055-4A3A-B224-534DC05D89B6}" dt="2026-06-18T22:52:28.272" v="1" actId="1076"/>
        <pc:sldMkLst>
          <pc:docMk/>
          <pc:sldMk cId="0" sldId="265"/>
        </pc:sldMkLst>
        <pc:spChg chg="mod">
          <ac:chgData name="Good Relax" userId="6e4d3e54824fd230" providerId="LiveId" clId="{71BB8839-F055-4A3A-B224-534DC05D89B6}" dt="2026-06-18T22:52:28.272" v="1" actId="1076"/>
          <ac:spMkLst>
            <pc:docMk/>
            <pc:sldMk cId="0" sldId="265"/>
            <ac:spMk id="3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228600"/>
            <a:ext cx="11612880" cy="731520"/>
          </a:xfrm>
          <a:prstGeom prst="rect">
            <a:avLst/>
          </a:prstGeom>
          <a:noFill/>
        </p:spPr>
        <p:txBody>
          <a:bodyPr wrap="square">
            <a:spAutoFit/>
          </a:bodyPr>
          <a:lstStyle/>
          <a:p>
            <a:pPr>
              <a:defRPr sz="2800" b="1"/>
            </a:pPr>
            <a:r>
              <a:t>車線維持支援システム (LKAS) ソフトウェア仕様検討書</a:t>
            </a:r>
          </a:p>
        </p:txBody>
      </p:sp>
      <p:sp>
        <p:nvSpPr>
          <p:cNvPr id="3" name="TextBox 2"/>
          <p:cNvSpPr txBox="1"/>
          <p:nvPr/>
        </p:nvSpPr>
        <p:spPr>
          <a:xfrm>
            <a:off x="457200" y="1463040"/>
            <a:ext cx="11247120" cy="3657600"/>
          </a:xfrm>
          <a:prstGeom prst="rect">
            <a:avLst/>
          </a:prstGeom>
          <a:noFill/>
        </p:spPr>
        <p:txBody>
          <a:bodyPr wrap="square">
            <a:spAutoFit/>
          </a:bodyPr>
          <a:lstStyle/>
          <a:p>
            <a:pPr>
              <a:spcAft>
                <a:spcPts val="600"/>
              </a:spcAft>
              <a:defRPr sz="1600"/>
            </a:pPr>
            <a:r>
              <a:t>文書番号: LKAS-SWSPEC-001 / 版数: 0.1 / 発行日: 2026-06-19 / 作成: 車両制御ソフトウェア開発部</a:t>
            </a:r>
          </a:p>
          <a:p>
            <a:pPr>
              <a:spcAft>
                <a:spcPts val="600"/>
              </a:spcAft>
              <a:defRPr sz="1600"/>
            </a:pPr>
            <a:endParaRPr/>
          </a:p>
          <a:p>
            <a:pPr>
              <a:spcAft>
                <a:spcPts val="600"/>
              </a:spcAft>
              <a:defRPr sz="1600"/>
            </a:pPr>
            <a:r>
              <a:t>概要: 本書は、車線維持支援システム LKAS の車載ソフトウェアに関する仕様検討書である。システム概要、機能要求、状態遷移、主要シーケンス、1制御周期の処理フロー、機能安全に関する考慮、主要パラメータおよび外部インタフェースを示す。</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228600"/>
            <a:ext cx="11612880" cy="731520"/>
          </a:xfrm>
          <a:prstGeom prst="rect">
            <a:avLst/>
          </a:prstGeom>
          <a:noFill/>
        </p:spPr>
        <p:txBody>
          <a:bodyPr wrap="square">
            <a:spAutoFit/>
          </a:bodyPr>
          <a:lstStyle/>
          <a:p>
            <a:pPr>
              <a:defRPr sz="2400" b="1"/>
            </a:pPr>
            <a:r>
              <a:t>1 システム概要と前提</a:t>
            </a:r>
          </a:p>
        </p:txBody>
      </p:sp>
      <p:sp>
        <p:nvSpPr>
          <p:cNvPr id="3" name="TextBox 2"/>
          <p:cNvSpPr txBox="1"/>
          <p:nvPr/>
        </p:nvSpPr>
        <p:spPr>
          <a:xfrm>
            <a:off x="457200" y="1097280"/>
            <a:ext cx="11247120" cy="5486400"/>
          </a:xfrm>
          <a:prstGeom prst="rect">
            <a:avLst/>
          </a:prstGeom>
          <a:noFill/>
        </p:spPr>
        <p:txBody>
          <a:bodyPr wrap="square">
            <a:spAutoFit/>
          </a:bodyPr>
          <a:lstStyle/>
          <a:p>
            <a:pPr>
              <a:spcAft>
                <a:spcPts val="600"/>
              </a:spcAft>
              <a:defRPr sz="1300"/>
            </a:pPr>
            <a:r>
              <a:t>本書は、車線維持支援システム(LKAS: Lane Keeping Assist System)の車載ソフトウェアに関する仕様検討書である。LKASは、前方単眼カメラによって自車前方の車線境界線を認識し、自車が車線中央付近を走行し続けるために必要な補助操舵トルクを電動パワーステアリング(EPS)へ指令する運転支援機能である。本機能はSAEレベル2相当の運転支援であり、運転の主体および最終責任は常にドライバにある。ドライバは操舵に手を添えた状態(ハンズオン)での使用を前提とし、システムは自動運転を提供するものではない。</a:t>
            </a:r>
          </a:p>
          <a:p>
            <a:pPr>
              <a:spcAft>
                <a:spcPts val="600"/>
              </a:spcAft>
              <a:defRPr sz="1300"/>
            </a:pPr>
            <a:r>
              <a:t>対象車種は、Cセグメントクラスの乗用車を想定する。動作速度域は65km/hから180km/hとし、これを下回る低速域では操舵介入を行わず、車線逸脱のおそれがある場合は警報のみを行う。直線路および緩やかな曲線路を主たる対象とし、車線曲率が上限を超える急カーブでは作動を制限する。</a:t>
            </a:r>
          </a:p>
          <a:p>
            <a:pPr>
              <a:spcAft>
                <a:spcPts val="600"/>
              </a:spcAft>
              <a:defRPr sz="1300"/>
            </a:pPr>
            <a:r>
              <a:t>センサ構成は、前方単眼カメラ、操舵角センサ、ヨーレートセンサ、車輪速センサ(車速)、および操舵トルクセンサからなる。前方カメラは車線境界線の横位置、自車のヨー角偏差、車線曲率、ならびに認識信頼度を周期的に出力する。アクチュエータとしてEPSを用い、ドライバへの情報提示手段としてメータ内表示(HMI)および警報ブザーを用いる。本システムは車両ネットワークを介して車速や方向指示器状態などの車両情報を取得する。</a:t>
            </a:r>
          </a:p>
          <a:p>
            <a:pPr>
              <a:spcAft>
                <a:spcPts val="600"/>
              </a:spcAft>
              <a:defRPr sz="1300"/>
            </a:pPr>
            <a:r>
              <a:t>前提条件として、本システムの性能は区画線が明瞭に認識できる環境において保証される。悪天候、夜間、逆光、区画線のかすれや欠落、工事区間などの環境ではカメラの認識性能が低下し得るため、これらの状況では作動を制限または中断し、必要に応じてドライバへ通知する。本書に示す数値は検討段階の代表値であり、実車適合により確定する。</a:t>
            </a:r>
          </a:p>
          <a:p>
            <a:pPr>
              <a:spcAft>
                <a:spcPts val="600"/>
              </a:spcAft>
              <a:defRPr sz="1300"/>
            </a:pPr>
            <a:r>
              <a:t>システム構成の概要を図1に示す。前方カメラおよび各車両センサから得られる情報はLKAS ECUに集約され、ECU内で車線推定、逸脱判定、制御演算が行われる。演算結果はEPSへの補助操舵トルク指令として出力されるとともに、メータおよび警報ブザーを介してドライバへ提示される。各信号は車載ネットワークを介して授受され、その詳細は表2に示すインタフェースに従う。</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228600"/>
            <a:ext cx="11612880" cy="731520"/>
          </a:xfrm>
          <a:prstGeom prst="rect">
            <a:avLst/>
          </a:prstGeom>
          <a:noFill/>
        </p:spPr>
        <p:txBody>
          <a:bodyPr wrap="square">
            <a:spAutoFit/>
          </a:bodyPr>
          <a:lstStyle/>
          <a:p>
            <a:pPr>
              <a:defRPr sz="2400" b="1"/>
            </a:pPr>
            <a:r>
              <a:t>図1 システム構成図</a:t>
            </a:r>
          </a:p>
        </p:txBody>
      </p:sp>
      <p:cxnSp>
        <p:nvCxnSpPr>
          <p:cNvPr id="3" name="Connector 2"/>
          <p:cNvCxnSpPr/>
          <p:nvPr/>
        </p:nvCxnSpPr>
        <p:spPr>
          <a:xfrm>
            <a:off x="3067291" y="1815952"/>
            <a:ext cx="1616983" cy="1337686"/>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3327142" y="2393355"/>
            <a:ext cx="1097280" cy="182880"/>
          </a:xfrm>
          <a:prstGeom prst="rect">
            <a:avLst/>
          </a:prstGeom>
          <a:noFill/>
        </p:spPr>
        <p:txBody>
          <a:bodyPr wrap="square">
            <a:spAutoFit/>
          </a:bodyPr>
          <a:lstStyle/>
          <a:p>
            <a:pPr algn="ctr">
              <a:defRPr sz="800"/>
            </a:pPr>
            <a:r>
              <a:t>車線情報</a:t>
            </a:r>
          </a:p>
        </p:txBody>
      </p:sp>
      <p:cxnSp>
        <p:nvCxnSpPr>
          <p:cNvPr id="5" name="Connector 4"/>
          <p:cNvCxnSpPr/>
          <p:nvPr/>
        </p:nvCxnSpPr>
        <p:spPr>
          <a:xfrm>
            <a:off x="3067291" y="2756742"/>
            <a:ext cx="1616983" cy="396896"/>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327142" y="2863750"/>
            <a:ext cx="1097280" cy="182880"/>
          </a:xfrm>
          <a:prstGeom prst="rect">
            <a:avLst/>
          </a:prstGeom>
          <a:noFill/>
        </p:spPr>
        <p:txBody>
          <a:bodyPr wrap="square">
            <a:spAutoFit/>
          </a:bodyPr>
          <a:lstStyle/>
          <a:p>
            <a:pPr algn="ctr">
              <a:defRPr sz="800"/>
            </a:pPr>
            <a:r>
              <a:t>操舵角</a:t>
            </a:r>
          </a:p>
        </p:txBody>
      </p:sp>
      <p:cxnSp>
        <p:nvCxnSpPr>
          <p:cNvPr id="7" name="Connector 6"/>
          <p:cNvCxnSpPr/>
          <p:nvPr/>
        </p:nvCxnSpPr>
        <p:spPr>
          <a:xfrm>
            <a:off x="3067291" y="3697532"/>
            <a:ext cx="1616983" cy="0"/>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327142" y="3606092"/>
            <a:ext cx="1097280" cy="182880"/>
          </a:xfrm>
          <a:prstGeom prst="rect">
            <a:avLst/>
          </a:prstGeom>
          <a:noFill/>
        </p:spPr>
        <p:txBody>
          <a:bodyPr wrap="square">
            <a:spAutoFit/>
          </a:bodyPr>
          <a:lstStyle/>
          <a:p>
            <a:pPr algn="ctr">
              <a:defRPr sz="800"/>
            </a:pPr>
            <a:r>
              <a:t>ヨーレート</a:t>
            </a:r>
          </a:p>
        </p:txBody>
      </p:sp>
      <p:cxnSp>
        <p:nvCxnSpPr>
          <p:cNvPr id="9" name="Connector 8"/>
          <p:cNvCxnSpPr/>
          <p:nvPr/>
        </p:nvCxnSpPr>
        <p:spPr>
          <a:xfrm flipV="1">
            <a:off x="3067291" y="4241427"/>
            <a:ext cx="1616983" cy="396895"/>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327142" y="4348434"/>
            <a:ext cx="1097280" cy="182880"/>
          </a:xfrm>
          <a:prstGeom prst="rect">
            <a:avLst/>
          </a:prstGeom>
          <a:noFill/>
        </p:spPr>
        <p:txBody>
          <a:bodyPr wrap="square">
            <a:spAutoFit/>
          </a:bodyPr>
          <a:lstStyle/>
          <a:p>
            <a:pPr algn="ctr">
              <a:defRPr sz="800"/>
            </a:pPr>
            <a:r>
              <a:t>車速</a:t>
            </a:r>
          </a:p>
        </p:txBody>
      </p:sp>
      <p:cxnSp>
        <p:nvCxnSpPr>
          <p:cNvPr id="11" name="Connector 10"/>
          <p:cNvCxnSpPr/>
          <p:nvPr/>
        </p:nvCxnSpPr>
        <p:spPr>
          <a:xfrm flipV="1">
            <a:off x="3067291" y="4241427"/>
            <a:ext cx="1616983" cy="1337686"/>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327142" y="4818830"/>
            <a:ext cx="1097280" cy="182880"/>
          </a:xfrm>
          <a:prstGeom prst="rect">
            <a:avLst/>
          </a:prstGeom>
          <a:noFill/>
        </p:spPr>
        <p:txBody>
          <a:bodyPr wrap="square">
            <a:spAutoFit/>
          </a:bodyPr>
          <a:lstStyle/>
          <a:p>
            <a:pPr algn="ctr">
              <a:defRPr sz="800"/>
            </a:pPr>
            <a:r>
              <a:t>操舵トルク</a:t>
            </a:r>
          </a:p>
        </p:txBody>
      </p:sp>
      <p:cxnSp>
        <p:nvCxnSpPr>
          <p:cNvPr id="13" name="Connector 12"/>
          <p:cNvCxnSpPr/>
          <p:nvPr/>
        </p:nvCxnSpPr>
        <p:spPr>
          <a:xfrm flipV="1">
            <a:off x="7330247" y="2609743"/>
            <a:ext cx="1616983" cy="543895"/>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590098" y="2790251"/>
            <a:ext cx="1097280" cy="182880"/>
          </a:xfrm>
          <a:prstGeom prst="rect">
            <a:avLst/>
          </a:prstGeom>
          <a:noFill/>
        </p:spPr>
        <p:txBody>
          <a:bodyPr wrap="square">
            <a:spAutoFit/>
          </a:bodyPr>
          <a:lstStyle/>
          <a:p>
            <a:pPr algn="ctr">
              <a:defRPr sz="800"/>
            </a:pPr>
            <a:r>
              <a:t>補助トルク指令</a:t>
            </a:r>
          </a:p>
        </p:txBody>
      </p:sp>
      <p:cxnSp>
        <p:nvCxnSpPr>
          <p:cNvPr id="15" name="Connector 14"/>
          <p:cNvCxnSpPr/>
          <p:nvPr/>
        </p:nvCxnSpPr>
        <p:spPr>
          <a:xfrm>
            <a:off x="7330247" y="3697532"/>
            <a:ext cx="1616983" cy="0"/>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590098" y="3606092"/>
            <a:ext cx="1097280" cy="182880"/>
          </a:xfrm>
          <a:prstGeom prst="rect">
            <a:avLst/>
          </a:prstGeom>
          <a:noFill/>
        </p:spPr>
        <p:txBody>
          <a:bodyPr wrap="square">
            <a:spAutoFit/>
          </a:bodyPr>
          <a:lstStyle/>
          <a:p>
            <a:pPr algn="ctr">
              <a:defRPr sz="800"/>
            </a:pPr>
            <a:r>
              <a:t>状態表示</a:t>
            </a:r>
          </a:p>
        </p:txBody>
      </p:sp>
      <p:cxnSp>
        <p:nvCxnSpPr>
          <p:cNvPr id="17" name="Connector 16"/>
          <p:cNvCxnSpPr/>
          <p:nvPr/>
        </p:nvCxnSpPr>
        <p:spPr>
          <a:xfrm>
            <a:off x="7330247" y="4241427"/>
            <a:ext cx="1616983" cy="543894"/>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590098" y="4421934"/>
            <a:ext cx="1097280" cy="182880"/>
          </a:xfrm>
          <a:prstGeom prst="rect">
            <a:avLst/>
          </a:prstGeom>
          <a:noFill/>
        </p:spPr>
        <p:txBody>
          <a:bodyPr wrap="square">
            <a:spAutoFit/>
          </a:bodyPr>
          <a:lstStyle/>
          <a:p>
            <a:pPr algn="ctr">
              <a:defRPr sz="800"/>
            </a:pPr>
            <a:r>
              <a:t>警報</a:t>
            </a:r>
          </a:p>
        </p:txBody>
      </p:sp>
      <p:sp>
        <p:nvSpPr>
          <p:cNvPr id="19" name="Rectangle 18"/>
          <p:cNvSpPr/>
          <p:nvPr/>
        </p:nvSpPr>
        <p:spPr>
          <a:xfrm>
            <a:off x="568316" y="1492555"/>
            <a:ext cx="2498974" cy="646793"/>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1100">
                <a:solidFill>
                  <a:srgbClr val="33415C"/>
                </a:solidFill>
              </a:defRPr>
            </a:pPr>
            <a:r>
              <a:t>前方カメラ</a:t>
            </a:r>
          </a:p>
        </p:txBody>
      </p:sp>
      <p:sp>
        <p:nvSpPr>
          <p:cNvPr id="20" name="Rectangle 19"/>
          <p:cNvSpPr/>
          <p:nvPr/>
        </p:nvSpPr>
        <p:spPr>
          <a:xfrm>
            <a:off x="568316" y="2433345"/>
            <a:ext cx="2498974" cy="646793"/>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1100">
                <a:solidFill>
                  <a:srgbClr val="33415C"/>
                </a:solidFill>
              </a:defRPr>
            </a:pPr>
            <a:r>
              <a:t>操舵角センサ</a:t>
            </a:r>
          </a:p>
        </p:txBody>
      </p:sp>
      <p:sp>
        <p:nvSpPr>
          <p:cNvPr id="21" name="Rectangle 20"/>
          <p:cNvSpPr/>
          <p:nvPr/>
        </p:nvSpPr>
        <p:spPr>
          <a:xfrm>
            <a:off x="568316" y="3374136"/>
            <a:ext cx="2498974" cy="646793"/>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1100">
                <a:solidFill>
                  <a:srgbClr val="33415C"/>
                </a:solidFill>
              </a:defRPr>
            </a:pPr>
            <a:r>
              <a:t>ヨーレートセンサ</a:t>
            </a:r>
          </a:p>
        </p:txBody>
      </p:sp>
      <p:sp>
        <p:nvSpPr>
          <p:cNvPr id="22" name="Rectangle 21"/>
          <p:cNvSpPr/>
          <p:nvPr/>
        </p:nvSpPr>
        <p:spPr>
          <a:xfrm>
            <a:off x="568316" y="4314926"/>
            <a:ext cx="2498974" cy="646793"/>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1100">
                <a:solidFill>
                  <a:srgbClr val="33415C"/>
                </a:solidFill>
              </a:defRPr>
            </a:pPr>
            <a:r>
              <a:t>車速センサ</a:t>
            </a:r>
          </a:p>
        </p:txBody>
      </p:sp>
      <p:sp>
        <p:nvSpPr>
          <p:cNvPr id="23" name="Rectangle 22"/>
          <p:cNvSpPr/>
          <p:nvPr/>
        </p:nvSpPr>
        <p:spPr>
          <a:xfrm>
            <a:off x="568316" y="5255716"/>
            <a:ext cx="2498974" cy="646793"/>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1100">
                <a:solidFill>
                  <a:srgbClr val="33415C"/>
                </a:solidFill>
              </a:defRPr>
            </a:pPr>
            <a:r>
              <a:t>操舵トルクセンサ</a:t>
            </a:r>
          </a:p>
        </p:txBody>
      </p:sp>
      <p:sp>
        <p:nvSpPr>
          <p:cNvPr id="24" name="Rectangle 23"/>
          <p:cNvSpPr/>
          <p:nvPr/>
        </p:nvSpPr>
        <p:spPr>
          <a:xfrm>
            <a:off x="4684274" y="3036039"/>
            <a:ext cx="2645972" cy="1322986"/>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1100">
                <a:solidFill>
                  <a:srgbClr val="33415C"/>
                </a:solidFill>
              </a:defRPr>
            </a:pPr>
            <a:r>
              <a:t>LKAS ECU</a:t>
            </a:r>
          </a:p>
        </p:txBody>
      </p:sp>
      <p:sp>
        <p:nvSpPr>
          <p:cNvPr id="25" name="Rectangle 24"/>
          <p:cNvSpPr/>
          <p:nvPr/>
        </p:nvSpPr>
        <p:spPr>
          <a:xfrm>
            <a:off x="8947230" y="2286347"/>
            <a:ext cx="2498974" cy="646793"/>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1100">
                <a:solidFill>
                  <a:srgbClr val="33415C"/>
                </a:solidFill>
              </a:defRPr>
            </a:pPr>
            <a:r>
              <a:t>EPS(操舵)</a:t>
            </a:r>
          </a:p>
        </p:txBody>
      </p:sp>
      <p:sp>
        <p:nvSpPr>
          <p:cNvPr id="26" name="Rectangle 25"/>
          <p:cNvSpPr/>
          <p:nvPr/>
        </p:nvSpPr>
        <p:spPr>
          <a:xfrm>
            <a:off x="8947230" y="3374136"/>
            <a:ext cx="2498974" cy="646793"/>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1100">
                <a:solidFill>
                  <a:srgbClr val="33415C"/>
                </a:solidFill>
              </a:defRPr>
            </a:pPr>
            <a:r>
              <a:t>メータ/HMI</a:t>
            </a:r>
          </a:p>
        </p:txBody>
      </p:sp>
      <p:sp>
        <p:nvSpPr>
          <p:cNvPr id="27" name="Rectangle 26"/>
          <p:cNvSpPr/>
          <p:nvPr/>
        </p:nvSpPr>
        <p:spPr>
          <a:xfrm>
            <a:off x="8947230" y="4461924"/>
            <a:ext cx="2498974" cy="646793"/>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1100">
                <a:solidFill>
                  <a:srgbClr val="33415C"/>
                </a:solidFill>
              </a:defRPr>
            </a:pPr>
            <a:r>
              <a:t>警報ブザー</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228600"/>
            <a:ext cx="11612880" cy="731520"/>
          </a:xfrm>
          <a:prstGeom prst="rect">
            <a:avLst/>
          </a:prstGeom>
          <a:noFill/>
        </p:spPr>
        <p:txBody>
          <a:bodyPr wrap="square">
            <a:spAutoFit/>
          </a:bodyPr>
          <a:lstStyle/>
          <a:p>
            <a:pPr>
              <a:defRPr sz="2400" b="1"/>
            </a:pPr>
            <a:r>
              <a:t>2 機能要求</a:t>
            </a:r>
          </a:p>
        </p:txBody>
      </p:sp>
      <p:sp>
        <p:nvSpPr>
          <p:cNvPr id="3" name="TextBox 2"/>
          <p:cNvSpPr txBox="1"/>
          <p:nvPr/>
        </p:nvSpPr>
        <p:spPr>
          <a:xfrm>
            <a:off x="457200" y="1097280"/>
            <a:ext cx="11247120" cy="5486400"/>
          </a:xfrm>
          <a:prstGeom prst="rect">
            <a:avLst/>
          </a:prstGeom>
          <a:noFill/>
        </p:spPr>
        <p:txBody>
          <a:bodyPr wrap="square">
            <a:spAutoFit/>
          </a:bodyPr>
          <a:lstStyle/>
          <a:p>
            <a:pPr>
              <a:spcAft>
                <a:spcPts val="600"/>
              </a:spcAft>
              <a:defRPr sz="1300"/>
            </a:pPr>
            <a:r>
              <a:t>LKASソフトウェアに対する主要な機能要求を以下に示す。各機能要求には要求識別子(REQ-LKAS-xxx)を付与し、後段の設計項目および試験項目と双方向に追跡可能とする。</a:t>
            </a:r>
          </a:p>
          <a:p>
            <a:pPr>
              <a:spcAft>
                <a:spcPts val="600"/>
              </a:spcAft>
              <a:defRPr sz="1300"/>
            </a:pPr>
            <a:r>
              <a:t>(1) 車線検出 [REQ-LKAS-010]: 前方カメラから取得した車線情報に基づき、左右の車線境界線および車線中心線を推定する。少なくとも片側の境界線が認識信頼度の閾値以上で得られる場合に車線検出成立とみなす。</a:t>
            </a:r>
          </a:p>
          <a:p>
            <a:pPr>
              <a:spcAft>
                <a:spcPts val="600"/>
              </a:spcAft>
              <a:defRPr sz="1300"/>
            </a:pPr>
            <a:r>
              <a:t>(2) 逸脱判定 [REQ-LKAS-020]: 自車の車線内横偏差、ヨー角偏差、および車線逸脱予測時間(TLC: Time to Lane Crossing)を算出し、逸脱傾向の有無を判定する。TLCが閾値TLCthを下回る場合、または横偏差が警報閾値Ywarnを超える場合に逸脱傾向ありと判定する。</a:t>
            </a:r>
          </a:p>
          <a:p>
            <a:pPr>
              <a:spcAft>
                <a:spcPts val="600"/>
              </a:spcAft>
              <a:defRPr sz="1300"/>
            </a:pPr>
            <a:r>
              <a:t>(3) 操舵トルク介入 [REQ-LKAS-030]: 車線中央へ復帰させるための目標補助操舵トルクを横偏差およびヨー角偏差から算出し、EPSへ指令する。補助トルクは最大値Tmaxで制限し、急変を避けるため立上り勾配を制限する。</a:t>
            </a:r>
          </a:p>
          <a:p>
            <a:pPr>
              <a:spcAft>
                <a:spcPts val="600"/>
              </a:spcAft>
              <a:defRPr sz="1300"/>
            </a:pPr>
            <a:r>
              <a:t>(4) ドライバオーバーライド [REQ-LKAS-040]: ドライバの操舵トルクが判定閾値Tovrを超えた場合、ドライバの操舵意図を優先し、補助トルクを漸減して介入を中断する。方向指示器が操作された場合も同様に介入を抑制する。</a:t>
            </a:r>
          </a:p>
          <a:p>
            <a:pPr>
              <a:spcAft>
                <a:spcPts val="600"/>
              </a:spcAft>
              <a:defRPr sz="1300"/>
            </a:pPr>
            <a:r>
              <a:t>(5) 警報 [REQ-LKAS-050]: 車線逸脱のおそれがある場合に視覚(メータ表示)および聴覚(ブザー)により警報する。あわせてシステムの作動状態およびフォールト発生をドライバへ表示する。</a:t>
            </a:r>
          </a:p>
          <a:p>
            <a:pPr>
              <a:spcAft>
                <a:spcPts val="600"/>
              </a:spcAft>
              <a:defRPr sz="1300"/>
            </a:pPr>
            <a:r>
              <a:t>警報は逸脱のおそれの度合いに応じて表示と音で段階的に行い、操舵介入と警報は協調して動作する。操舵介入は連続的かつ滑らかに行い、ドライバに過度な違和感を与えないことを要求する。システムの作動・非作動および現在の作動状態は、ドライバが容易に認識できるようHMIへ常時表示する。</a:t>
            </a:r>
          </a:p>
          <a:p>
            <a:pPr>
              <a:spcAft>
                <a:spcPts val="600"/>
              </a:spcAft>
              <a:defRPr sz="1300"/>
            </a:pPr>
            <a:r>
              <a:t>上記に加え、すべての制御演算は1制御周期内に完了すること、および安全関連機能は故障時に安全側へ作用することを非機能要求として課す。</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228600"/>
            <a:ext cx="11612880" cy="731520"/>
          </a:xfrm>
          <a:prstGeom prst="rect">
            <a:avLst/>
          </a:prstGeom>
          <a:noFill/>
        </p:spPr>
        <p:txBody>
          <a:bodyPr wrap="square">
            <a:spAutoFit/>
          </a:bodyPr>
          <a:lstStyle/>
          <a:p>
            <a:pPr>
              <a:defRPr sz="2400" b="1"/>
            </a:pPr>
            <a:r>
              <a:t>3 状態遷移</a:t>
            </a:r>
          </a:p>
        </p:txBody>
      </p:sp>
      <p:sp>
        <p:nvSpPr>
          <p:cNvPr id="3" name="TextBox 2"/>
          <p:cNvSpPr txBox="1"/>
          <p:nvPr/>
        </p:nvSpPr>
        <p:spPr>
          <a:xfrm>
            <a:off x="457200" y="1097280"/>
            <a:ext cx="11247120" cy="5486400"/>
          </a:xfrm>
          <a:prstGeom prst="rect">
            <a:avLst/>
          </a:prstGeom>
          <a:noFill/>
        </p:spPr>
        <p:txBody>
          <a:bodyPr wrap="square">
            <a:spAutoFit/>
          </a:bodyPr>
          <a:lstStyle/>
          <a:p>
            <a:pPr>
              <a:spcAft>
                <a:spcPts val="600"/>
              </a:spcAft>
              <a:defRPr sz="1300"/>
            </a:pPr>
            <a:r>
              <a:t>LKASの作動状態は、OFF、STANDBY、ACTIVE、OVERRIDE、FAULTの5状態で管理する。初期状態はOFFである。</a:t>
            </a:r>
          </a:p>
          <a:p>
            <a:pPr>
              <a:spcAft>
                <a:spcPts val="600"/>
              </a:spcAft>
              <a:defRPr sz="1300"/>
            </a:pPr>
            <a:r>
              <a:t>OFFはシステムが停止している状態であり、ドライバがシステムスイッチをONにするとSTANDBYへ遷移する。STANDBYは電源が投入されているが作動条件が未成立の状態であり、車速が作動速度域内であり、かつ車線が検出された場合にACTIVEへ遷移する。</a:t>
            </a:r>
          </a:p>
          <a:p>
            <a:pPr>
              <a:spcAft>
                <a:spcPts val="600"/>
              </a:spcAft>
              <a:defRPr sz="1300"/>
            </a:pPr>
            <a:r>
              <a:t>ACTIVEは車線維持制御を実行している状態である。ACTIVE中にドライバの操舵トルクが閾値Tovrを超えるとOVERRIDEへ遷移し、補助トルクを抑制してドライバ操舵を優先する。ドライバの操舵が解除されると、OVERRIDEからACTIVEへ復帰する。作動条件が不成立となった場合(速度域外、車線ロスト等)はACTIVEからSTANDBYへ戻る。</a:t>
            </a:r>
          </a:p>
          <a:p>
            <a:pPr>
              <a:spcAft>
                <a:spcPts val="600"/>
              </a:spcAft>
              <a:defRPr sz="1300"/>
            </a:pPr>
            <a:r>
              <a:t>いずれの作動状態(STANDBY/ACTIVE/OVERRIDE)においても、自己診断により故障が確定した場合はFAULTへ遷移し、フェールセーフ処理を実行する。FAULT遷移は他のすべての遷移に優先する。FAULTからは、イグニッションの再投入または故障要因の解消とリセットによりOFFへ遷移する。また、いずれの作動状態からもシステムスイッチOFFによりOFFへ遷移する。</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228600"/>
            <a:ext cx="11612880" cy="731520"/>
          </a:xfrm>
          <a:prstGeom prst="rect">
            <a:avLst/>
          </a:prstGeom>
          <a:noFill/>
        </p:spPr>
        <p:txBody>
          <a:bodyPr wrap="square">
            <a:spAutoFit/>
          </a:bodyPr>
          <a:lstStyle/>
          <a:p>
            <a:pPr>
              <a:defRPr sz="2400" b="1"/>
            </a:pPr>
            <a:r>
              <a:t>図2 状態遷移図</a:t>
            </a:r>
          </a:p>
        </p:txBody>
      </p:sp>
      <p:cxnSp>
        <p:nvCxnSpPr>
          <p:cNvPr id="3" name="Connector 2"/>
          <p:cNvCxnSpPr/>
          <p:nvPr/>
        </p:nvCxnSpPr>
        <p:spPr>
          <a:xfrm>
            <a:off x="1623677" y="2326777"/>
            <a:ext cx="0" cy="948999"/>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075037" y="2709836"/>
            <a:ext cx="1097280" cy="182880"/>
          </a:xfrm>
          <a:prstGeom prst="rect">
            <a:avLst/>
          </a:prstGeom>
          <a:noFill/>
        </p:spPr>
        <p:txBody>
          <a:bodyPr wrap="square">
            <a:spAutoFit/>
          </a:bodyPr>
          <a:lstStyle/>
          <a:p>
            <a:pPr algn="ctr">
              <a:defRPr sz="800"/>
            </a:pPr>
            <a:r>
              <a:t>システムON</a:t>
            </a:r>
          </a:p>
        </p:txBody>
      </p:sp>
      <p:cxnSp>
        <p:nvCxnSpPr>
          <p:cNvPr id="5" name="Connector 4"/>
          <p:cNvCxnSpPr/>
          <p:nvPr/>
        </p:nvCxnSpPr>
        <p:spPr>
          <a:xfrm flipV="1">
            <a:off x="1623677" y="2326777"/>
            <a:ext cx="0" cy="948999"/>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75037" y="2709836"/>
            <a:ext cx="1097280" cy="182880"/>
          </a:xfrm>
          <a:prstGeom prst="rect">
            <a:avLst/>
          </a:prstGeom>
          <a:noFill/>
        </p:spPr>
        <p:txBody>
          <a:bodyPr wrap="square">
            <a:spAutoFit/>
          </a:bodyPr>
          <a:lstStyle/>
          <a:p>
            <a:pPr algn="ctr">
              <a:defRPr sz="800"/>
            </a:pPr>
            <a:r>
              <a:t>システムOFF</a:t>
            </a:r>
          </a:p>
        </p:txBody>
      </p:sp>
      <p:cxnSp>
        <p:nvCxnSpPr>
          <p:cNvPr id="7" name="Connector 6"/>
          <p:cNvCxnSpPr/>
          <p:nvPr/>
        </p:nvCxnSpPr>
        <p:spPr>
          <a:xfrm>
            <a:off x="2795098" y="3824416"/>
            <a:ext cx="1186249" cy="0"/>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839582" y="3732976"/>
            <a:ext cx="1097280" cy="182880"/>
          </a:xfrm>
          <a:prstGeom prst="rect">
            <a:avLst/>
          </a:prstGeom>
          <a:noFill/>
        </p:spPr>
        <p:txBody>
          <a:bodyPr wrap="square">
            <a:spAutoFit/>
          </a:bodyPr>
          <a:lstStyle/>
          <a:p>
            <a:pPr algn="ctr">
              <a:defRPr sz="800"/>
            </a:pPr>
            <a:r>
              <a:t>作動条件成立</a:t>
            </a:r>
          </a:p>
        </p:txBody>
      </p:sp>
      <p:cxnSp>
        <p:nvCxnSpPr>
          <p:cNvPr id="9" name="Connector 8"/>
          <p:cNvCxnSpPr/>
          <p:nvPr/>
        </p:nvCxnSpPr>
        <p:spPr>
          <a:xfrm flipH="1">
            <a:off x="2795098" y="3824416"/>
            <a:ext cx="1186249" cy="0"/>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839582" y="3732976"/>
            <a:ext cx="1097280" cy="182880"/>
          </a:xfrm>
          <a:prstGeom prst="rect">
            <a:avLst/>
          </a:prstGeom>
          <a:noFill/>
        </p:spPr>
        <p:txBody>
          <a:bodyPr wrap="square">
            <a:spAutoFit/>
          </a:bodyPr>
          <a:lstStyle/>
          <a:p>
            <a:pPr algn="ctr">
              <a:defRPr sz="800"/>
            </a:pPr>
            <a:r>
              <a:t>作動条件不成立</a:t>
            </a:r>
          </a:p>
        </p:txBody>
      </p:sp>
      <p:cxnSp>
        <p:nvCxnSpPr>
          <p:cNvPr id="11" name="Connector 10"/>
          <p:cNvCxnSpPr/>
          <p:nvPr/>
        </p:nvCxnSpPr>
        <p:spPr>
          <a:xfrm>
            <a:off x="6057282" y="3824416"/>
            <a:ext cx="1186248" cy="0"/>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101766" y="3732976"/>
            <a:ext cx="1097280" cy="182880"/>
          </a:xfrm>
          <a:prstGeom prst="rect">
            <a:avLst/>
          </a:prstGeom>
          <a:noFill/>
        </p:spPr>
        <p:txBody>
          <a:bodyPr wrap="square">
            <a:spAutoFit/>
          </a:bodyPr>
          <a:lstStyle/>
          <a:p>
            <a:pPr algn="ctr">
              <a:defRPr sz="800"/>
            </a:pPr>
            <a:r>
              <a:t>ドライバ操舵&gt;Tovr</a:t>
            </a:r>
          </a:p>
        </p:txBody>
      </p:sp>
      <p:cxnSp>
        <p:nvCxnSpPr>
          <p:cNvPr id="13" name="Connector 12"/>
          <p:cNvCxnSpPr/>
          <p:nvPr/>
        </p:nvCxnSpPr>
        <p:spPr>
          <a:xfrm flipH="1">
            <a:off x="6057282" y="3824416"/>
            <a:ext cx="1186248" cy="0"/>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101766" y="3732976"/>
            <a:ext cx="1097280" cy="182880"/>
          </a:xfrm>
          <a:prstGeom prst="rect">
            <a:avLst/>
          </a:prstGeom>
          <a:noFill/>
        </p:spPr>
        <p:txBody>
          <a:bodyPr wrap="square">
            <a:spAutoFit/>
          </a:bodyPr>
          <a:lstStyle/>
          <a:p>
            <a:pPr algn="ctr">
              <a:defRPr sz="800"/>
            </a:pPr>
            <a:r>
              <a:t>ドライバ操舵解除</a:t>
            </a:r>
          </a:p>
        </p:txBody>
      </p:sp>
      <p:cxnSp>
        <p:nvCxnSpPr>
          <p:cNvPr id="15" name="Connector 14"/>
          <p:cNvCxnSpPr/>
          <p:nvPr/>
        </p:nvCxnSpPr>
        <p:spPr>
          <a:xfrm>
            <a:off x="5019314" y="4106150"/>
            <a:ext cx="0" cy="1097280"/>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470674" y="4563350"/>
            <a:ext cx="1097280" cy="182880"/>
          </a:xfrm>
          <a:prstGeom prst="rect">
            <a:avLst/>
          </a:prstGeom>
          <a:noFill/>
        </p:spPr>
        <p:txBody>
          <a:bodyPr wrap="square">
            <a:spAutoFit/>
          </a:bodyPr>
          <a:lstStyle/>
          <a:p>
            <a:pPr algn="ctr">
              <a:defRPr sz="800"/>
            </a:pPr>
            <a:r>
              <a:t>故障検出</a:t>
            </a:r>
          </a:p>
        </p:txBody>
      </p:sp>
      <p:cxnSp>
        <p:nvCxnSpPr>
          <p:cNvPr id="17" name="Connector 16"/>
          <p:cNvCxnSpPr/>
          <p:nvPr/>
        </p:nvCxnSpPr>
        <p:spPr>
          <a:xfrm>
            <a:off x="2459755" y="4106150"/>
            <a:ext cx="1856935" cy="1097280"/>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839582" y="4563350"/>
            <a:ext cx="1097280" cy="182880"/>
          </a:xfrm>
          <a:prstGeom prst="rect">
            <a:avLst/>
          </a:prstGeom>
          <a:noFill/>
        </p:spPr>
        <p:txBody>
          <a:bodyPr wrap="square">
            <a:spAutoFit/>
          </a:bodyPr>
          <a:lstStyle/>
          <a:p>
            <a:pPr algn="ctr">
              <a:defRPr sz="800"/>
            </a:pPr>
            <a:r>
              <a:t>故障検出</a:t>
            </a:r>
          </a:p>
        </p:txBody>
      </p:sp>
      <p:cxnSp>
        <p:nvCxnSpPr>
          <p:cNvPr id="19" name="Connector 18"/>
          <p:cNvCxnSpPr/>
          <p:nvPr/>
        </p:nvCxnSpPr>
        <p:spPr>
          <a:xfrm flipH="1">
            <a:off x="5721938" y="4106150"/>
            <a:ext cx="1856936" cy="1097280"/>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101766" y="4563350"/>
            <a:ext cx="1097280" cy="182880"/>
          </a:xfrm>
          <a:prstGeom prst="rect">
            <a:avLst/>
          </a:prstGeom>
          <a:noFill/>
        </p:spPr>
        <p:txBody>
          <a:bodyPr wrap="square">
            <a:spAutoFit/>
          </a:bodyPr>
          <a:lstStyle/>
          <a:p>
            <a:pPr algn="ctr">
              <a:defRPr sz="800"/>
            </a:pPr>
            <a:r>
              <a:t>故障検出</a:t>
            </a:r>
          </a:p>
        </p:txBody>
      </p:sp>
      <p:cxnSp>
        <p:nvCxnSpPr>
          <p:cNvPr id="21" name="Connector 20"/>
          <p:cNvCxnSpPr/>
          <p:nvPr/>
        </p:nvCxnSpPr>
        <p:spPr>
          <a:xfrm flipH="1" flipV="1">
            <a:off x="2122495" y="2326777"/>
            <a:ext cx="2531455" cy="2876653"/>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839582" y="3673663"/>
            <a:ext cx="1097280" cy="182880"/>
          </a:xfrm>
          <a:prstGeom prst="rect">
            <a:avLst/>
          </a:prstGeom>
          <a:noFill/>
        </p:spPr>
        <p:txBody>
          <a:bodyPr wrap="square">
            <a:spAutoFit/>
          </a:bodyPr>
          <a:lstStyle/>
          <a:p>
            <a:pPr algn="ctr">
              <a:defRPr sz="800"/>
            </a:pPr>
            <a:r>
              <a:t>リセット/IG OFF</a:t>
            </a:r>
          </a:p>
        </p:txBody>
      </p:sp>
      <p:sp>
        <p:nvSpPr>
          <p:cNvPr id="23" name="Rounded Rectangle 22"/>
          <p:cNvSpPr/>
          <p:nvPr/>
        </p:nvSpPr>
        <p:spPr>
          <a:xfrm>
            <a:off x="719163" y="1496403"/>
            <a:ext cx="2075935" cy="830374"/>
          </a:xfrm>
          <a:prstGeom prst="roundRect">
            <a:avLst/>
          </a:prstGeom>
          <a:solidFill>
            <a:srgbClr val="D5E8D4"/>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1100">
                <a:solidFill>
                  <a:srgbClr val="33415C"/>
                </a:solidFill>
              </a:defRPr>
            </a:pPr>
            <a:r>
              <a:t>OFF</a:t>
            </a:r>
          </a:p>
        </p:txBody>
      </p:sp>
      <p:sp>
        <p:nvSpPr>
          <p:cNvPr id="24" name="Rounded Rectangle 23"/>
          <p:cNvSpPr/>
          <p:nvPr/>
        </p:nvSpPr>
        <p:spPr>
          <a:xfrm>
            <a:off x="719163" y="3275776"/>
            <a:ext cx="2075935" cy="830374"/>
          </a:xfrm>
          <a:prstGeom prst="roundRect">
            <a:avLst/>
          </a:prstGeom>
          <a:solidFill>
            <a:srgbClr val="D5E8D4"/>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1100">
                <a:solidFill>
                  <a:srgbClr val="33415C"/>
                </a:solidFill>
              </a:defRPr>
            </a:pPr>
            <a:r>
              <a:t>STANDBY</a:t>
            </a:r>
          </a:p>
        </p:txBody>
      </p:sp>
      <p:sp>
        <p:nvSpPr>
          <p:cNvPr id="25" name="Rounded Rectangle 24"/>
          <p:cNvSpPr/>
          <p:nvPr/>
        </p:nvSpPr>
        <p:spPr>
          <a:xfrm>
            <a:off x="3981347" y="3275776"/>
            <a:ext cx="2075935" cy="830374"/>
          </a:xfrm>
          <a:prstGeom prst="roundRect">
            <a:avLst/>
          </a:prstGeom>
          <a:solidFill>
            <a:srgbClr val="D5E8D4"/>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1100">
                <a:solidFill>
                  <a:srgbClr val="33415C"/>
                </a:solidFill>
              </a:defRPr>
            </a:pPr>
            <a:r>
              <a:t>ACTIVE</a:t>
            </a:r>
          </a:p>
        </p:txBody>
      </p:sp>
      <p:sp>
        <p:nvSpPr>
          <p:cNvPr id="26" name="Rounded Rectangle 25"/>
          <p:cNvSpPr/>
          <p:nvPr/>
        </p:nvSpPr>
        <p:spPr>
          <a:xfrm>
            <a:off x="7243530" y="3275776"/>
            <a:ext cx="2075935" cy="830374"/>
          </a:xfrm>
          <a:prstGeom prst="roundRect">
            <a:avLst/>
          </a:prstGeom>
          <a:solidFill>
            <a:srgbClr val="D5E8D4"/>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1100">
                <a:solidFill>
                  <a:srgbClr val="33415C"/>
                </a:solidFill>
              </a:defRPr>
            </a:pPr>
            <a:r>
              <a:t>OVERRIDE</a:t>
            </a:r>
          </a:p>
        </p:txBody>
      </p:sp>
      <p:sp>
        <p:nvSpPr>
          <p:cNvPr id="27" name="Rounded Rectangle 26"/>
          <p:cNvSpPr/>
          <p:nvPr/>
        </p:nvSpPr>
        <p:spPr>
          <a:xfrm>
            <a:off x="3981347" y="5203430"/>
            <a:ext cx="2075935" cy="830374"/>
          </a:xfrm>
          <a:prstGeom prst="roundRect">
            <a:avLst/>
          </a:prstGeom>
          <a:solidFill>
            <a:srgbClr val="D5E8D4"/>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1100">
                <a:solidFill>
                  <a:srgbClr val="33415C"/>
                </a:solidFill>
              </a:defRPr>
            </a:pPr>
            <a:r>
              <a:t>FAULT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228600"/>
            <a:ext cx="11612880" cy="731520"/>
          </a:xfrm>
          <a:prstGeom prst="rect">
            <a:avLst/>
          </a:prstGeom>
          <a:noFill/>
        </p:spPr>
        <p:txBody>
          <a:bodyPr wrap="square">
            <a:spAutoFit/>
          </a:bodyPr>
          <a:lstStyle/>
          <a:p>
            <a:pPr>
              <a:defRPr sz="2400" b="1"/>
            </a:pPr>
            <a:r>
              <a:t>4 主要シーケンス(車線逸脱検知から操舵介入)</a:t>
            </a:r>
          </a:p>
        </p:txBody>
      </p:sp>
      <p:sp>
        <p:nvSpPr>
          <p:cNvPr id="3" name="TextBox 2"/>
          <p:cNvSpPr txBox="1"/>
          <p:nvPr/>
        </p:nvSpPr>
        <p:spPr>
          <a:xfrm>
            <a:off x="457200" y="1097280"/>
            <a:ext cx="11247120" cy="5486400"/>
          </a:xfrm>
          <a:prstGeom prst="rect">
            <a:avLst/>
          </a:prstGeom>
          <a:noFill/>
        </p:spPr>
        <p:txBody>
          <a:bodyPr wrap="square">
            <a:spAutoFit/>
          </a:bodyPr>
          <a:lstStyle/>
          <a:p>
            <a:pPr>
              <a:spcAft>
                <a:spcPts val="600"/>
              </a:spcAft>
              <a:defRPr sz="1300"/>
            </a:pPr>
            <a:r>
              <a:t>車線逸脱の検知から操舵介入に至る主要なシーケンスを示す。まず前方カメラが一定周期で車線情報(横偏差、ヨー角偏差、曲率、信頼度)をLKAS ECUへ送信する。</a:t>
            </a:r>
          </a:p>
          <a:p>
            <a:pPr>
              <a:spcAft>
                <a:spcPts val="600"/>
              </a:spcAft>
              <a:defRPr sz="1300"/>
            </a:pPr>
            <a:r>
              <a:t>LKAS ECUは受信した車線情報と車両運動情報(車速、ヨーレート、操舵角)から自車の車線内位置を推定し、横偏差およびTLCを算出する。算出結果に基づいて逸脱判定を行い、逸脱傾向ありと判定した場合はHMIへ逸脱警報要求を送信する。</a:t>
            </a:r>
          </a:p>
          <a:p>
            <a:pPr>
              <a:spcAft>
                <a:spcPts val="600"/>
              </a:spcAft>
              <a:defRPr sz="1300"/>
            </a:pPr>
            <a:r>
              <a:t>続いて車線中央復帰のための目標補助操舵トルクを算出し、トルク制限および勾配制限を適用したうえでEPSへ補助操舵トルク指令を送信する。EPSは指令に応じて操舵系へトルクを付与し、自車を車線中央方向へ誘導する。</a:t>
            </a:r>
          </a:p>
          <a:p>
            <a:pPr>
              <a:spcAft>
                <a:spcPts val="600"/>
              </a:spcAft>
              <a:defRPr sz="1300"/>
            </a:pPr>
            <a:r>
              <a:t>介入中もLKAS ECUはドライバ操舵トルクを監視し、オーバーライド条件が成立した場合は補助トルクを漸減して介入を中断し、制御の主体をドライバへ委ねる。一連の処理は制御周期ごとに繰り返し実行される。</a:t>
            </a:r>
          </a:p>
          <a:p>
            <a:pPr>
              <a:spcAft>
                <a:spcPts val="600"/>
              </a:spcAft>
              <a:defRPr sz="1300"/>
            </a:pPr>
            <a:r>
              <a:t>本シーケンスにおける各処理は制御周期Tcに同期して実行される。カメラからの車線情報は制御周期より長い周期で更新されるため、ECU内で最新値を保持して用いる。車線逸脱検知から操舵介入の確立までの応答遅れは、安全性および違和感の観点から管理対象とす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228600"/>
            <a:ext cx="11612880" cy="731520"/>
          </a:xfrm>
          <a:prstGeom prst="rect">
            <a:avLst/>
          </a:prstGeom>
          <a:noFill/>
        </p:spPr>
        <p:txBody>
          <a:bodyPr wrap="square">
            <a:spAutoFit/>
          </a:bodyPr>
          <a:lstStyle/>
          <a:p>
            <a:pPr>
              <a:defRPr sz="2400" b="1"/>
            </a:pPr>
            <a:r>
              <a:t>図3 主要シーケンス図(車線逸脱検知から操舵介入)</a:t>
            </a:r>
          </a:p>
        </p:txBody>
      </p:sp>
      <p:cxnSp>
        <p:nvCxnSpPr>
          <p:cNvPr id="3" name="Connector 2"/>
          <p:cNvCxnSpPr/>
          <p:nvPr/>
        </p:nvCxnSpPr>
        <p:spPr>
          <a:xfrm>
            <a:off x="1042416" y="1687982"/>
            <a:ext cx="0" cy="4411066"/>
          </a:xfrm>
          <a:prstGeom prst="line">
            <a:avLst/>
          </a:prstGeom>
          <a:ln w="12700">
            <a:solidFill>
              <a:srgbClr val="33415C"/>
            </a:solidFill>
            <a:prstDash val="dash"/>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2907792" y="1687982"/>
            <a:ext cx="0" cy="4411066"/>
          </a:xfrm>
          <a:prstGeom prst="line">
            <a:avLst/>
          </a:prstGeom>
          <a:ln w="12700">
            <a:solidFill>
              <a:srgbClr val="33415C"/>
            </a:solidFill>
            <a:prstDash val="dash"/>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773168" y="1687982"/>
            <a:ext cx="0" cy="4411066"/>
          </a:xfrm>
          <a:prstGeom prst="line">
            <a:avLst/>
          </a:prstGeom>
          <a:ln w="12700">
            <a:solidFill>
              <a:srgbClr val="33415C"/>
            </a:solidFill>
            <a:prstDash val="dash"/>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19088" y="1687982"/>
            <a:ext cx="0" cy="4411066"/>
          </a:xfrm>
          <a:prstGeom prst="line">
            <a:avLst/>
          </a:prstGeom>
          <a:ln w="12700">
            <a:solidFill>
              <a:srgbClr val="33415C"/>
            </a:solidFill>
            <a:prstDash val="dash"/>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65007" y="1687982"/>
            <a:ext cx="0" cy="4411066"/>
          </a:xfrm>
          <a:prstGeom prst="line">
            <a:avLst/>
          </a:prstGeom>
          <a:ln w="12700">
            <a:solidFill>
              <a:srgbClr val="33415C"/>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42416" y="2061057"/>
            <a:ext cx="1865376" cy="0"/>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426464" y="1969617"/>
            <a:ext cx="1097280" cy="182880"/>
          </a:xfrm>
          <a:prstGeom prst="rect">
            <a:avLst/>
          </a:prstGeom>
          <a:noFill/>
        </p:spPr>
        <p:txBody>
          <a:bodyPr wrap="square">
            <a:spAutoFit/>
          </a:bodyPr>
          <a:lstStyle/>
          <a:p>
            <a:pPr algn="ctr">
              <a:defRPr sz="800"/>
            </a:pPr>
            <a:r>
              <a:t>車線情報(横偏差,曲率,信頼度)</a:t>
            </a:r>
          </a:p>
        </p:txBody>
      </p:sp>
      <p:cxnSp>
        <p:nvCxnSpPr>
          <p:cNvPr id="10" name="Connector 9"/>
          <p:cNvCxnSpPr/>
          <p:nvPr/>
        </p:nvCxnSpPr>
        <p:spPr>
          <a:xfrm>
            <a:off x="2907792" y="3443630"/>
            <a:ext cx="3511296" cy="0"/>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114800" y="3352190"/>
            <a:ext cx="1097280" cy="182880"/>
          </a:xfrm>
          <a:prstGeom prst="rect">
            <a:avLst/>
          </a:prstGeom>
          <a:noFill/>
        </p:spPr>
        <p:txBody>
          <a:bodyPr wrap="square">
            <a:spAutoFit/>
          </a:bodyPr>
          <a:lstStyle/>
          <a:p>
            <a:pPr algn="ctr">
              <a:defRPr sz="800"/>
            </a:pPr>
            <a:r>
              <a:t>逸脱警報要求</a:t>
            </a:r>
          </a:p>
        </p:txBody>
      </p:sp>
      <p:cxnSp>
        <p:nvCxnSpPr>
          <p:cNvPr id="12" name="Connector 11"/>
          <p:cNvCxnSpPr/>
          <p:nvPr/>
        </p:nvCxnSpPr>
        <p:spPr>
          <a:xfrm>
            <a:off x="2907792" y="4365345"/>
            <a:ext cx="1865376" cy="0"/>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291839" y="4273905"/>
            <a:ext cx="1097280" cy="182880"/>
          </a:xfrm>
          <a:prstGeom prst="rect">
            <a:avLst/>
          </a:prstGeom>
          <a:noFill/>
        </p:spPr>
        <p:txBody>
          <a:bodyPr wrap="square">
            <a:spAutoFit/>
          </a:bodyPr>
          <a:lstStyle/>
          <a:p>
            <a:pPr algn="ctr">
              <a:defRPr sz="800"/>
            </a:pPr>
            <a:r>
              <a:t>補助操舵トルク指令</a:t>
            </a:r>
          </a:p>
        </p:txBody>
      </p:sp>
      <p:cxnSp>
        <p:nvCxnSpPr>
          <p:cNvPr id="14" name="Connector 13"/>
          <p:cNvCxnSpPr/>
          <p:nvPr/>
        </p:nvCxnSpPr>
        <p:spPr>
          <a:xfrm>
            <a:off x="4773168" y="4826203"/>
            <a:ext cx="3291839" cy="0"/>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870448" y="4734763"/>
            <a:ext cx="1097280" cy="182880"/>
          </a:xfrm>
          <a:prstGeom prst="rect">
            <a:avLst/>
          </a:prstGeom>
          <a:noFill/>
        </p:spPr>
        <p:txBody>
          <a:bodyPr wrap="square">
            <a:spAutoFit/>
          </a:bodyPr>
          <a:lstStyle/>
          <a:p>
            <a:pPr algn="ctr">
              <a:defRPr sz="800"/>
            </a:pPr>
            <a:r>
              <a:t>操舵トルク付与</a:t>
            </a:r>
          </a:p>
        </p:txBody>
      </p:sp>
      <p:cxnSp>
        <p:nvCxnSpPr>
          <p:cNvPr id="16" name="Connector 15"/>
          <p:cNvCxnSpPr/>
          <p:nvPr/>
        </p:nvCxnSpPr>
        <p:spPr>
          <a:xfrm flipH="1">
            <a:off x="2907792" y="5287060"/>
            <a:ext cx="5157215" cy="0"/>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937760" y="5195620"/>
            <a:ext cx="1097280" cy="182880"/>
          </a:xfrm>
          <a:prstGeom prst="rect">
            <a:avLst/>
          </a:prstGeom>
          <a:noFill/>
        </p:spPr>
        <p:txBody>
          <a:bodyPr wrap="square">
            <a:spAutoFit/>
          </a:bodyPr>
          <a:lstStyle/>
          <a:p>
            <a:pPr algn="ctr">
              <a:defRPr sz="800"/>
            </a:pPr>
            <a:r>
              <a:t>ドライバ操舵(オーバーライド時)</a:t>
            </a:r>
          </a:p>
        </p:txBody>
      </p:sp>
      <p:cxnSp>
        <p:nvCxnSpPr>
          <p:cNvPr id="18" name="Connector 17"/>
          <p:cNvCxnSpPr/>
          <p:nvPr/>
        </p:nvCxnSpPr>
        <p:spPr>
          <a:xfrm>
            <a:off x="2907792" y="5747918"/>
            <a:ext cx="1865376" cy="0"/>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291839" y="5656478"/>
            <a:ext cx="1097280" cy="182880"/>
          </a:xfrm>
          <a:prstGeom prst="rect">
            <a:avLst/>
          </a:prstGeom>
          <a:noFill/>
        </p:spPr>
        <p:txBody>
          <a:bodyPr wrap="square">
            <a:spAutoFit/>
          </a:bodyPr>
          <a:lstStyle/>
          <a:p>
            <a:pPr algn="ctr">
              <a:defRPr sz="800"/>
            </a:pPr>
            <a:r>
              <a:t>トルク漸減/介入中断</a:t>
            </a:r>
          </a:p>
        </p:txBody>
      </p:sp>
      <p:sp>
        <p:nvSpPr>
          <p:cNvPr id="20" name="Rectangle 19"/>
          <p:cNvSpPr/>
          <p:nvPr/>
        </p:nvSpPr>
        <p:spPr>
          <a:xfrm>
            <a:off x="384048" y="1249070"/>
            <a:ext cx="1316736" cy="438912"/>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900">
                <a:solidFill>
                  <a:srgbClr val="33415C"/>
                </a:solidFill>
              </a:defRPr>
            </a:pPr>
            <a:r>
              <a:t>前方カメラ</a:t>
            </a:r>
          </a:p>
        </p:txBody>
      </p:sp>
      <p:sp>
        <p:nvSpPr>
          <p:cNvPr id="21" name="Rectangle 20"/>
          <p:cNvSpPr/>
          <p:nvPr/>
        </p:nvSpPr>
        <p:spPr>
          <a:xfrm>
            <a:off x="2249424" y="1249070"/>
            <a:ext cx="1316736" cy="438912"/>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900">
                <a:solidFill>
                  <a:srgbClr val="33415C"/>
                </a:solidFill>
              </a:defRPr>
            </a:pPr>
            <a:r>
              <a:t>LKAS ECU</a:t>
            </a:r>
          </a:p>
        </p:txBody>
      </p:sp>
      <p:sp>
        <p:nvSpPr>
          <p:cNvPr id="22" name="Rectangle 21"/>
          <p:cNvSpPr/>
          <p:nvPr/>
        </p:nvSpPr>
        <p:spPr>
          <a:xfrm>
            <a:off x="4114799" y="1249070"/>
            <a:ext cx="1316736" cy="438912"/>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900">
                <a:solidFill>
                  <a:srgbClr val="33415C"/>
                </a:solidFill>
              </a:defRPr>
            </a:pPr>
            <a:r>
              <a:t>EPS</a:t>
            </a:r>
          </a:p>
        </p:txBody>
      </p:sp>
      <p:sp>
        <p:nvSpPr>
          <p:cNvPr id="23" name="Rectangle 22"/>
          <p:cNvSpPr/>
          <p:nvPr/>
        </p:nvSpPr>
        <p:spPr>
          <a:xfrm>
            <a:off x="5760720" y="1249070"/>
            <a:ext cx="1316736" cy="438912"/>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900">
                <a:solidFill>
                  <a:srgbClr val="33415C"/>
                </a:solidFill>
              </a:defRPr>
            </a:pPr>
            <a:r>
              <a:t>メータ/ブザー</a:t>
            </a:r>
          </a:p>
        </p:txBody>
      </p:sp>
      <p:sp>
        <p:nvSpPr>
          <p:cNvPr id="24" name="Rectangle 23"/>
          <p:cNvSpPr/>
          <p:nvPr/>
        </p:nvSpPr>
        <p:spPr>
          <a:xfrm>
            <a:off x="7406639" y="1249070"/>
            <a:ext cx="1316736" cy="438912"/>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900">
                <a:solidFill>
                  <a:srgbClr val="33415C"/>
                </a:solidFill>
              </a:defRPr>
            </a:pPr>
            <a:r>
              <a:t>ドライバ</a:t>
            </a:r>
          </a:p>
        </p:txBody>
      </p:sp>
      <p:sp>
        <p:nvSpPr>
          <p:cNvPr id="25" name="Folded Corner 24"/>
          <p:cNvSpPr/>
          <p:nvPr/>
        </p:nvSpPr>
        <p:spPr>
          <a:xfrm>
            <a:off x="2973628" y="2390241"/>
            <a:ext cx="1755648" cy="263347"/>
          </a:xfrm>
          <a:prstGeom prst="foldedCorner">
            <a:avLst/>
          </a:prstGeom>
          <a:solidFill>
            <a:srgbClr val="FFF2C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900">
                <a:solidFill>
                  <a:srgbClr val="33415C"/>
                </a:solidFill>
              </a:defRPr>
            </a:pPr>
            <a:r>
              <a:t>横偏差/TLC算出</a:t>
            </a:r>
          </a:p>
        </p:txBody>
      </p:sp>
      <p:sp>
        <p:nvSpPr>
          <p:cNvPr id="26" name="Folded Corner 25"/>
          <p:cNvSpPr/>
          <p:nvPr/>
        </p:nvSpPr>
        <p:spPr>
          <a:xfrm>
            <a:off x="2973628" y="2851099"/>
            <a:ext cx="1755648" cy="263347"/>
          </a:xfrm>
          <a:prstGeom prst="foldedCorner">
            <a:avLst/>
          </a:prstGeom>
          <a:solidFill>
            <a:srgbClr val="FFF2C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900">
                <a:solidFill>
                  <a:srgbClr val="33415C"/>
                </a:solidFill>
              </a:defRPr>
            </a:pPr>
            <a:r>
              <a:t>逸脱判定(TLC&lt;TLCth)</a:t>
            </a:r>
          </a:p>
        </p:txBody>
      </p:sp>
      <p:sp>
        <p:nvSpPr>
          <p:cNvPr id="27" name="Folded Corner 26"/>
          <p:cNvSpPr/>
          <p:nvPr/>
        </p:nvSpPr>
        <p:spPr>
          <a:xfrm>
            <a:off x="2973628" y="3772814"/>
            <a:ext cx="1755648" cy="263347"/>
          </a:xfrm>
          <a:prstGeom prst="foldedCorner">
            <a:avLst/>
          </a:prstGeom>
          <a:solidFill>
            <a:srgbClr val="FFF2C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900">
                <a:solidFill>
                  <a:srgbClr val="33415C"/>
                </a:solidFill>
              </a:defRPr>
            </a:pPr>
            <a:r>
              <a:t>目標補助トルク算出</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228600"/>
            <a:ext cx="11612880" cy="731520"/>
          </a:xfrm>
          <a:prstGeom prst="rect">
            <a:avLst/>
          </a:prstGeom>
          <a:noFill/>
        </p:spPr>
        <p:txBody>
          <a:bodyPr wrap="square">
            <a:spAutoFit/>
          </a:bodyPr>
          <a:lstStyle/>
          <a:p>
            <a:pPr>
              <a:defRPr sz="2400" b="1"/>
            </a:pPr>
            <a:r>
              <a:t>5 処理フロー(1制御周期)</a:t>
            </a:r>
          </a:p>
        </p:txBody>
      </p:sp>
      <p:sp>
        <p:nvSpPr>
          <p:cNvPr id="3" name="TextBox 2"/>
          <p:cNvSpPr txBox="1"/>
          <p:nvPr/>
        </p:nvSpPr>
        <p:spPr>
          <a:xfrm>
            <a:off x="457200" y="1097280"/>
            <a:ext cx="11247120" cy="5486400"/>
          </a:xfrm>
          <a:prstGeom prst="rect">
            <a:avLst/>
          </a:prstGeom>
          <a:noFill/>
        </p:spPr>
        <p:txBody>
          <a:bodyPr wrap="square">
            <a:spAutoFit/>
          </a:bodyPr>
          <a:lstStyle/>
          <a:p>
            <a:pPr>
              <a:spcAft>
                <a:spcPts val="600"/>
              </a:spcAft>
              <a:defRPr sz="1300"/>
            </a:pPr>
            <a:r>
              <a:t>LKAS ECUは制御周期Tc(20ミリ秒)ごとに一連の処理を実行する。1制御周期内の処理は次の順序で行う。</a:t>
            </a:r>
          </a:p>
          <a:p>
            <a:pPr>
              <a:spcAft>
                <a:spcPts val="600"/>
              </a:spcAft>
              <a:defRPr sz="1300"/>
            </a:pPr>
            <a:r>
              <a:t>まずセンサおよびカメラからの入力信号を取得し、各信号に対して妥当性診断(レンジチェック、タイムアウト監視、整合性チェック)を実施する。診断により故障が検出された場合は、補助トルクを漸減してフェールセーフへ移行し、FAULT状態として当該周期の制御演算を打ち切る。</a:t>
            </a:r>
          </a:p>
          <a:p>
            <a:pPr>
              <a:spcAft>
                <a:spcPts val="600"/>
              </a:spcAft>
              <a:defRPr sz="1300"/>
            </a:pPr>
            <a:r>
              <a:t>故障が無い場合は車線推定を行い、横偏差、ヨー角偏差、曲率を更新する。次に作動条件(速度域、車線検出、ドライバ状態)を評価し、条件不成立であれば制御出力を停止してSTANDBY相当の出力とする。</a:t>
            </a:r>
          </a:p>
          <a:p>
            <a:pPr>
              <a:spcAft>
                <a:spcPts val="600"/>
              </a:spcAft>
              <a:defRPr sz="1300"/>
            </a:pPr>
            <a:r>
              <a:t>条件成立時は逸脱判定および目標補助トルク算出を行い、ドライバオーバーライドの有無を確認する。オーバーライド時は補助トルクを抑制し、非オーバーライド時はトルク指令を確定する。最後にEPSへの補助トルク指令とHMI表示を更新し、周期内の自己診断結果を反映し、ウォッチドッグを更新して当該周期を終了する。</a:t>
            </a:r>
          </a:p>
          <a:p>
            <a:pPr>
              <a:spcAft>
                <a:spcPts val="600"/>
              </a:spcAft>
              <a:defRPr sz="1300"/>
            </a:pPr>
            <a:r>
              <a:t>1制御周期内の各処理は、入力取得から出力更新までを制御周期内に確実に完了させる必要がある。このため、処理時間の最悪値(WCET)を見積もり、周期内に十分な時間的余裕を確保する。周期超過(オーバーラン)が発生した場合は異常として扱い、安全側の処理へ移行す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228600"/>
            <a:ext cx="11612880" cy="731520"/>
          </a:xfrm>
          <a:prstGeom prst="rect">
            <a:avLst/>
          </a:prstGeom>
          <a:noFill/>
        </p:spPr>
        <p:txBody>
          <a:bodyPr wrap="square">
            <a:spAutoFit/>
          </a:bodyPr>
          <a:lstStyle/>
          <a:p>
            <a:pPr>
              <a:defRPr sz="2400" b="1"/>
            </a:pPr>
            <a:r>
              <a:t>図4 処理フローチャート(1制御周期)</a:t>
            </a:r>
          </a:p>
        </p:txBody>
      </p:sp>
      <p:cxnSp>
        <p:nvCxnSpPr>
          <p:cNvPr id="3" name="Connector 2"/>
          <p:cNvCxnSpPr/>
          <p:nvPr/>
        </p:nvCxnSpPr>
        <p:spPr>
          <a:xfrm>
            <a:off x="1405536" y="1402237"/>
            <a:ext cx="0" cy="141402"/>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405536" y="1803818"/>
            <a:ext cx="0" cy="135746"/>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405536" y="2199744"/>
            <a:ext cx="0" cy="107466"/>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914583" y="2550421"/>
            <a:ext cx="480767" cy="0"/>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606327" y="2458981"/>
            <a:ext cx="1097280" cy="182880"/>
          </a:xfrm>
          <a:prstGeom prst="rect">
            <a:avLst/>
          </a:prstGeom>
          <a:noFill/>
        </p:spPr>
        <p:txBody>
          <a:bodyPr wrap="square">
            <a:spAutoFit/>
          </a:bodyPr>
          <a:lstStyle/>
          <a:p>
            <a:pPr algn="ctr">
              <a:defRPr sz="800"/>
            </a:pPr>
            <a:r>
              <a:t>Yes</a:t>
            </a:r>
          </a:p>
        </p:txBody>
      </p:sp>
      <p:cxnSp>
        <p:nvCxnSpPr>
          <p:cNvPr id="8" name="Connector 7"/>
          <p:cNvCxnSpPr/>
          <p:nvPr/>
        </p:nvCxnSpPr>
        <p:spPr>
          <a:xfrm>
            <a:off x="1405536" y="2793633"/>
            <a:ext cx="0" cy="164026"/>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56896" y="2784206"/>
            <a:ext cx="1097280" cy="182880"/>
          </a:xfrm>
          <a:prstGeom prst="rect">
            <a:avLst/>
          </a:prstGeom>
          <a:noFill/>
        </p:spPr>
        <p:txBody>
          <a:bodyPr wrap="square">
            <a:spAutoFit/>
          </a:bodyPr>
          <a:lstStyle/>
          <a:p>
            <a:pPr algn="ctr">
              <a:defRPr sz="800"/>
            </a:pPr>
            <a:r>
              <a:t>No</a:t>
            </a:r>
          </a:p>
        </p:txBody>
      </p:sp>
      <p:cxnSp>
        <p:nvCxnSpPr>
          <p:cNvPr id="10" name="Connector 9"/>
          <p:cNvCxnSpPr/>
          <p:nvPr/>
        </p:nvCxnSpPr>
        <p:spPr>
          <a:xfrm>
            <a:off x="1405536" y="3217839"/>
            <a:ext cx="0" cy="107466"/>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914583" y="3568516"/>
            <a:ext cx="480767" cy="0"/>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606327" y="3477076"/>
            <a:ext cx="1097280" cy="182880"/>
          </a:xfrm>
          <a:prstGeom prst="rect">
            <a:avLst/>
          </a:prstGeom>
          <a:noFill/>
        </p:spPr>
        <p:txBody>
          <a:bodyPr wrap="square">
            <a:spAutoFit/>
          </a:bodyPr>
          <a:lstStyle/>
          <a:p>
            <a:pPr algn="ctr">
              <a:defRPr sz="800"/>
            </a:pPr>
            <a:r>
              <a:t>No</a:t>
            </a:r>
          </a:p>
        </p:txBody>
      </p:sp>
      <p:cxnSp>
        <p:nvCxnSpPr>
          <p:cNvPr id="13" name="Connector 12"/>
          <p:cNvCxnSpPr/>
          <p:nvPr/>
        </p:nvCxnSpPr>
        <p:spPr>
          <a:xfrm>
            <a:off x="1405536" y="3811728"/>
            <a:ext cx="0" cy="164026"/>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56896" y="3802301"/>
            <a:ext cx="1097280" cy="182880"/>
          </a:xfrm>
          <a:prstGeom prst="rect">
            <a:avLst/>
          </a:prstGeom>
          <a:noFill/>
        </p:spPr>
        <p:txBody>
          <a:bodyPr wrap="square">
            <a:spAutoFit/>
          </a:bodyPr>
          <a:lstStyle/>
          <a:p>
            <a:pPr algn="ctr">
              <a:defRPr sz="800"/>
            </a:pPr>
            <a:r>
              <a:t>Yes</a:t>
            </a:r>
          </a:p>
        </p:txBody>
      </p:sp>
      <p:cxnSp>
        <p:nvCxnSpPr>
          <p:cNvPr id="15" name="Connector 14"/>
          <p:cNvCxnSpPr/>
          <p:nvPr/>
        </p:nvCxnSpPr>
        <p:spPr>
          <a:xfrm>
            <a:off x="1405536" y="4235934"/>
            <a:ext cx="0" cy="107466"/>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914583" y="4586611"/>
            <a:ext cx="480767" cy="0"/>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606327" y="4495171"/>
            <a:ext cx="1097280" cy="182880"/>
          </a:xfrm>
          <a:prstGeom prst="rect">
            <a:avLst/>
          </a:prstGeom>
          <a:noFill/>
        </p:spPr>
        <p:txBody>
          <a:bodyPr wrap="square">
            <a:spAutoFit/>
          </a:bodyPr>
          <a:lstStyle/>
          <a:p>
            <a:pPr algn="ctr">
              <a:defRPr sz="800"/>
            </a:pPr>
            <a:r>
              <a:t>Yes</a:t>
            </a:r>
          </a:p>
        </p:txBody>
      </p:sp>
      <p:cxnSp>
        <p:nvCxnSpPr>
          <p:cNvPr id="18" name="Connector 17"/>
          <p:cNvCxnSpPr/>
          <p:nvPr/>
        </p:nvCxnSpPr>
        <p:spPr>
          <a:xfrm>
            <a:off x="1405536" y="4829823"/>
            <a:ext cx="0" cy="164026"/>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56896" y="4820396"/>
            <a:ext cx="1097280" cy="182880"/>
          </a:xfrm>
          <a:prstGeom prst="rect">
            <a:avLst/>
          </a:prstGeom>
          <a:noFill/>
        </p:spPr>
        <p:txBody>
          <a:bodyPr wrap="square">
            <a:spAutoFit/>
          </a:bodyPr>
          <a:lstStyle/>
          <a:p>
            <a:pPr algn="ctr">
              <a:defRPr sz="800"/>
            </a:pPr>
            <a:r>
              <a:t>No</a:t>
            </a:r>
          </a:p>
        </p:txBody>
      </p:sp>
      <p:cxnSp>
        <p:nvCxnSpPr>
          <p:cNvPr id="20" name="Connector 19"/>
          <p:cNvCxnSpPr/>
          <p:nvPr/>
        </p:nvCxnSpPr>
        <p:spPr>
          <a:xfrm>
            <a:off x="1405536" y="5254029"/>
            <a:ext cx="0" cy="135746"/>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405536" y="5649955"/>
            <a:ext cx="0" cy="135746"/>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405536" y="6045880"/>
            <a:ext cx="0" cy="113122"/>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809371" y="2550421"/>
            <a:ext cx="367645" cy="0"/>
          </a:xfrm>
          <a:prstGeom prst="line">
            <a:avLst/>
          </a:prstGeom>
          <a:ln w="12700">
            <a:solidFill>
              <a:srgbClr val="33415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177016" y="2550421"/>
            <a:ext cx="0" cy="2901571"/>
          </a:xfrm>
          <a:prstGeom prst="line">
            <a:avLst/>
          </a:prstGeom>
          <a:ln w="12700">
            <a:solidFill>
              <a:srgbClr val="33415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2112546" y="5451992"/>
            <a:ext cx="2064470" cy="0"/>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809371" y="3568516"/>
            <a:ext cx="226243" cy="0"/>
          </a:xfrm>
          <a:prstGeom prst="line">
            <a:avLst/>
          </a:prstGeom>
          <a:ln w="12700">
            <a:solidFill>
              <a:srgbClr val="33415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614" y="3568516"/>
            <a:ext cx="0" cy="1951349"/>
          </a:xfrm>
          <a:prstGeom prst="line">
            <a:avLst/>
          </a:prstGeom>
          <a:ln w="12700">
            <a:solidFill>
              <a:srgbClr val="33415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2112546" y="5519865"/>
            <a:ext cx="1923068" cy="0"/>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809371" y="4586611"/>
            <a:ext cx="84841" cy="0"/>
          </a:xfrm>
          <a:prstGeom prst="line">
            <a:avLst/>
          </a:prstGeom>
          <a:ln w="12700">
            <a:solidFill>
              <a:srgbClr val="33415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894212" y="4586611"/>
            <a:ext cx="0" cy="1001127"/>
          </a:xfrm>
          <a:prstGeom prst="line">
            <a:avLst/>
          </a:prstGeom>
          <a:ln w="12700">
            <a:solidFill>
              <a:srgbClr val="33415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2112546" y="5587738"/>
            <a:ext cx="1781666" cy="0"/>
          </a:xfrm>
          <a:prstGeom prst="line">
            <a:avLst/>
          </a:prstGeom>
          <a:ln w="12700">
            <a:solidFill>
              <a:srgbClr val="3341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96489" y="1153369"/>
            <a:ext cx="1018094" cy="248867"/>
          </a:xfrm>
          <a:prstGeom prst="roundRect">
            <a:avLst/>
          </a:prstGeom>
          <a:solidFill>
            <a:srgbClr val="F8CEC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800">
                <a:solidFill>
                  <a:srgbClr val="33415C"/>
                </a:solidFill>
              </a:defRPr>
            </a:pPr>
            <a:r>
              <a:t>周期開始 (Tc=20ms)</a:t>
            </a:r>
          </a:p>
        </p:txBody>
      </p:sp>
      <p:sp>
        <p:nvSpPr>
          <p:cNvPr id="33" name="Rectangle 32"/>
          <p:cNvSpPr/>
          <p:nvPr/>
        </p:nvSpPr>
        <p:spPr>
          <a:xfrm>
            <a:off x="698526" y="1543639"/>
            <a:ext cx="1414020" cy="260179"/>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800">
                <a:solidFill>
                  <a:srgbClr val="33415C"/>
                </a:solidFill>
              </a:defRPr>
            </a:pPr>
            <a:r>
              <a:t>入力取得(センサ/カメラ)</a:t>
            </a:r>
          </a:p>
        </p:txBody>
      </p:sp>
      <p:sp>
        <p:nvSpPr>
          <p:cNvPr id="34" name="Rectangle 33"/>
          <p:cNvSpPr/>
          <p:nvPr/>
        </p:nvSpPr>
        <p:spPr>
          <a:xfrm>
            <a:off x="698526" y="1939564"/>
            <a:ext cx="1414020" cy="260179"/>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800">
                <a:solidFill>
                  <a:srgbClr val="33415C"/>
                </a:solidFill>
              </a:defRPr>
            </a:pPr>
            <a:r>
              <a:t>信号妥当性診断</a:t>
            </a:r>
          </a:p>
        </p:txBody>
      </p:sp>
      <p:sp>
        <p:nvSpPr>
          <p:cNvPr id="35" name="Diamond 34"/>
          <p:cNvSpPr/>
          <p:nvPr/>
        </p:nvSpPr>
        <p:spPr>
          <a:xfrm>
            <a:off x="896489" y="2307210"/>
            <a:ext cx="1018094" cy="486423"/>
          </a:xfrm>
          <a:prstGeom prst="diamond">
            <a:avLst/>
          </a:prstGeom>
          <a:solidFill>
            <a:srgbClr val="FFE6C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800">
                <a:solidFill>
                  <a:srgbClr val="33415C"/>
                </a:solidFill>
              </a:defRPr>
            </a:pPr>
            <a:r>
              <a:t>故障あり?</a:t>
            </a:r>
          </a:p>
        </p:txBody>
      </p:sp>
      <p:sp>
        <p:nvSpPr>
          <p:cNvPr id="36" name="Rectangle 35"/>
          <p:cNvSpPr/>
          <p:nvPr/>
        </p:nvSpPr>
        <p:spPr>
          <a:xfrm>
            <a:off x="2395350" y="2420331"/>
            <a:ext cx="1414020" cy="260179"/>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800">
                <a:solidFill>
                  <a:srgbClr val="33415C"/>
                </a:solidFill>
              </a:defRPr>
            </a:pPr>
            <a:r>
              <a:t>フェールセーフ(トルク漸減/FAULT)</a:t>
            </a:r>
          </a:p>
        </p:txBody>
      </p:sp>
      <p:sp>
        <p:nvSpPr>
          <p:cNvPr id="37" name="Rectangle 36"/>
          <p:cNvSpPr/>
          <p:nvPr/>
        </p:nvSpPr>
        <p:spPr>
          <a:xfrm>
            <a:off x="698526" y="2957659"/>
            <a:ext cx="1414020" cy="260179"/>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800">
                <a:solidFill>
                  <a:srgbClr val="33415C"/>
                </a:solidFill>
              </a:defRPr>
            </a:pPr>
            <a:r>
              <a:t>車線推定(横偏差/ヨー角/曲率)</a:t>
            </a:r>
          </a:p>
        </p:txBody>
      </p:sp>
      <p:sp>
        <p:nvSpPr>
          <p:cNvPr id="38" name="Diamond 37"/>
          <p:cNvSpPr/>
          <p:nvPr/>
        </p:nvSpPr>
        <p:spPr>
          <a:xfrm>
            <a:off x="896489" y="3325305"/>
            <a:ext cx="1018094" cy="486423"/>
          </a:xfrm>
          <a:prstGeom prst="diamond">
            <a:avLst/>
          </a:prstGeom>
          <a:solidFill>
            <a:srgbClr val="FFE6C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800">
                <a:solidFill>
                  <a:srgbClr val="33415C"/>
                </a:solidFill>
              </a:defRPr>
            </a:pPr>
            <a:r>
              <a:t>作動条件成立?</a:t>
            </a:r>
          </a:p>
        </p:txBody>
      </p:sp>
      <p:sp>
        <p:nvSpPr>
          <p:cNvPr id="39" name="Rectangle 38"/>
          <p:cNvSpPr/>
          <p:nvPr/>
        </p:nvSpPr>
        <p:spPr>
          <a:xfrm>
            <a:off x="2395350" y="3438426"/>
            <a:ext cx="1414020" cy="260179"/>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800">
                <a:solidFill>
                  <a:srgbClr val="33415C"/>
                </a:solidFill>
              </a:defRPr>
            </a:pPr>
            <a:r>
              <a:t>制御停止(STANDBY出力)</a:t>
            </a:r>
          </a:p>
        </p:txBody>
      </p:sp>
      <p:sp>
        <p:nvSpPr>
          <p:cNvPr id="40" name="Rectangle 39"/>
          <p:cNvSpPr/>
          <p:nvPr/>
        </p:nvSpPr>
        <p:spPr>
          <a:xfrm>
            <a:off x="698526" y="3975754"/>
            <a:ext cx="1414020" cy="260179"/>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800">
                <a:solidFill>
                  <a:srgbClr val="33415C"/>
                </a:solidFill>
              </a:defRPr>
            </a:pPr>
            <a:r>
              <a:t>逸脱判定/目標トルク算出</a:t>
            </a:r>
          </a:p>
        </p:txBody>
      </p:sp>
      <p:sp>
        <p:nvSpPr>
          <p:cNvPr id="41" name="Diamond 40"/>
          <p:cNvSpPr/>
          <p:nvPr/>
        </p:nvSpPr>
        <p:spPr>
          <a:xfrm>
            <a:off x="896489" y="4343400"/>
            <a:ext cx="1018094" cy="486423"/>
          </a:xfrm>
          <a:prstGeom prst="diamond">
            <a:avLst/>
          </a:prstGeom>
          <a:solidFill>
            <a:srgbClr val="FFE6C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800">
                <a:solidFill>
                  <a:srgbClr val="33415C"/>
                </a:solidFill>
              </a:defRPr>
            </a:pPr>
            <a:r>
              <a:t>オーバーライド?</a:t>
            </a:r>
          </a:p>
        </p:txBody>
      </p:sp>
      <p:sp>
        <p:nvSpPr>
          <p:cNvPr id="42" name="Rectangle 41"/>
          <p:cNvSpPr/>
          <p:nvPr/>
        </p:nvSpPr>
        <p:spPr>
          <a:xfrm>
            <a:off x="2395350" y="4456521"/>
            <a:ext cx="1414020" cy="260179"/>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800">
                <a:solidFill>
                  <a:srgbClr val="33415C"/>
                </a:solidFill>
              </a:defRPr>
            </a:pPr>
            <a:r>
              <a:t>介入抑制(OVERRIDE)</a:t>
            </a:r>
          </a:p>
        </p:txBody>
      </p:sp>
      <p:sp>
        <p:nvSpPr>
          <p:cNvPr id="43" name="Rectangle 42"/>
          <p:cNvSpPr/>
          <p:nvPr/>
        </p:nvSpPr>
        <p:spPr>
          <a:xfrm>
            <a:off x="698526" y="4993849"/>
            <a:ext cx="1414020" cy="260179"/>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800">
                <a:solidFill>
                  <a:srgbClr val="33415C"/>
                </a:solidFill>
              </a:defRPr>
            </a:pPr>
            <a:r>
              <a:t>補助トルク指令確定</a:t>
            </a:r>
          </a:p>
        </p:txBody>
      </p:sp>
      <p:sp>
        <p:nvSpPr>
          <p:cNvPr id="44" name="Rectangle 43"/>
          <p:cNvSpPr/>
          <p:nvPr/>
        </p:nvSpPr>
        <p:spPr>
          <a:xfrm>
            <a:off x="698526" y="5389775"/>
            <a:ext cx="1414020" cy="260179"/>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800">
                <a:solidFill>
                  <a:srgbClr val="33415C"/>
                </a:solidFill>
              </a:defRPr>
            </a:pPr>
            <a:r>
              <a:t>出力更新(EPS/HMI)</a:t>
            </a:r>
          </a:p>
        </p:txBody>
      </p:sp>
      <p:sp>
        <p:nvSpPr>
          <p:cNvPr id="45" name="Rectangle 44"/>
          <p:cNvSpPr/>
          <p:nvPr/>
        </p:nvSpPr>
        <p:spPr>
          <a:xfrm>
            <a:off x="698526" y="5785701"/>
            <a:ext cx="1414020" cy="260179"/>
          </a:xfrm>
          <a:prstGeom prst="rect">
            <a:avLst/>
          </a:prstGeom>
          <a:solidFill>
            <a:srgbClr val="DAE8F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800">
                <a:solidFill>
                  <a:srgbClr val="33415C"/>
                </a:solidFill>
              </a:defRPr>
            </a:pPr>
            <a:r>
              <a:t>自己診断/WDT更新</a:t>
            </a:r>
          </a:p>
        </p:txBody>
      </p:sp>
      <p:sp>
        <p:nvSpPr>
          <p:cNvPr id="46" name="Rounded Rectangle 45"/>
          <p:cNvSpPr/>
          <p:nvPr/>
        </p:nvSpPr>
        <p:spPr>
          <a:xfrm>
            <a:off x="896489" y="6159002"/>
            <a:ext cx="1018094" cy="248867"/>
          </a:xfrm>
          <a:prstGeom prst="roundRect">
            <a:avLst/>
          </a:prstGeom>
          <a:solidFill>
            <a:srgbClr val="F8CECC"/>
          </a:solidFill>
          <a:ln>
            <a:solidFill>
              <a:srgbClr val="33415C"/>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defRPr sz="800">
                <a:solidFill>
                  <a:srgbClr val="33415C"/>
                </a:solidFill>
              </a:defRPr>
            </a:pPr>
            <a:r>
              <a:t>周期終了</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228600"/>
            <a:ext cx="11612880" cy="731520"/>
          </a:xfrm>
          <a:prstGeom prst="rect">
            <a:avLst/>
          </a:prstGeom>
          <a:noFill/>
        </p:spPr>
        <p:txBody>
          <a:bodyPr wrap="square">
            <a:spAutoFit/>
          </a:bodyPr>
          <a:lstStyle/>
          <a:p>
            <a:pPr>
              <a:defRPr sz="2400" b="1"/>
            </a:pPr>
            <a:r>
              <a:t>6 機能安全に関する考慮</a:t>
            </a:r>
          </a:p>
        </p:txBody>
      </p:sp>
      <p:sp>
        <p:nvSpPr>
          <p:cNvPr id="3" name="TextBox 2"/>
          <p:cNvSpPr txBox="1"/>
          <p:nvPr/>
        </p:nvSpPr>
        <p:spPr>
          <a:xfrm>
            <a:off x="457200" y="1097280"/>
            <a:ext cx="11247120" cy="5486400"/>
          </a:xfrm>
          <a:prstGeom prst="rect">
            <a:avLst/>
          </a:prstGeom>
          <a:noFill/>
        </p:spPr>
        <p:txBody>
          <a:bodyPr wrap="square">
            <a:spAutoFit/>
          </a:bodyPr>
          <a:lstStyle/>
          <a:p>
            <a:pPr>
              <a:spcAft>
                <a:spcPts val="600"/>
              </a:spcAft>
              <a:defRPr sz="1300"/>
            </a:pPr>
            <a:r>
              <a:t>本システムは、機能安全規格ISO 26262の考え方を踏まえて設計する。ここでは規格条文の引用は行わず、一般的な設計方針を述べる。意図しない操舵トルクの付与、および必要な介入の喪失や遅延は危険事象となり得るため、これらを抑止するための安全機構を設ける。</a:t>
            </a:r>
          </a:p>
          <a:p>
            <a:pPr>
              <a:spcAft>
                <a:spcPts val="600"/>
              </a:spcAft>
              <a:defRPr sz="1300"/>
            </a:pPr>
            <a:r>
              <a:t>フォールト検出としては、各入力信号のレンジチェックおよび更新タイムアウト監視、通信フレームのチェックサム/CRC検証、複数センサ間の整合性によるクロスチェック、ならびに制御演算の妥当性監視(出力トルクの上限・勾配監視)を行う。カメラ認識信頼度の低下や車線ロストも作動継続可否の判断に用いる。</a:t>
            </a:r>
          </a:p>
          <a:p>
            <a:pPr>
              <a:spcAft>
                <a:spcPts val="600"/>
              </a:spcAft>
              <a:defRPr sz="1300"/>
            </a:pPr>
            <a:r>
              <a:t>フェールセーフとしては、故障確定時に補助操舵トルクを急変させず漸減(ランプダウン)させたうえで介入を停止し、安全状態として操舵をドライバに委ねる。あわせてFAULT状態へ遷移し、ドライバへ警報および状態表示を行い、故障コード(DTC)を記録する。</a:t>
            </a:r>
          </a:p>
          <a:p>
            <a:pPr>
              <a:spcAft>
                <a:spcPts val="600"/>
              </a:spcAft>
              <a:defRPr sz="1300"/>
            </a:pPr>
            <a:r>
              <a:t>演算の健全性はウォッチドッグおよび周期監視により担保し、想定外の処理停止やオーバーランを検出した場合も安全状態へ移行する。安全要求のうち重要度の高いものには相応のASILを割り当て、要求から設計・検証までの追跡性を確保する。独立した監視機能により、主機能の誤りを検出する多重化構成を基本方針とする。</a:t>
            </a:r>
          </a:p>
          <a:p>
            <a:pPr>
              <a:spcAft>
                <a:spcPts val="600"/>
              </a:spcAft>
              <a:defRPr sz="1300"/>
            </a:pPr>
            <a:r>
              <a:t>アーキテクチャ上は、主たる制御演算とは独立した監視機能を設け、出力トルクの妥当性や演算結果の整合性を監視する。これにより、単一の故障が直ちに危険な操舵介入につながらないようにする。診断結果および故障履歴は不揮発メモリに記録し、サービス時の解析に供す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228600"/>
            <a:ext cx="11612880" cy="731520"/>
          </a:xfrm>
          <a:prstGeom prst="rect">
            <a:avLst/>
          </a:prstGeom>
          <a:noFill/>
        </p:spPr>
        <p:txBody>
          <a:bodyPr wrap="square">
            <a:spAutoFit/>
          </a:bodyPr>
          <a:lstStyle/>
          <a:p>
            <a:pPr>
              <a:defRPr sz="2400" b="1"/>
            </a:pPr>
            <a:r>
              <a:t>7 主要パラメータ表とインタフェース表</a:t>
            </a:r>
          </a:p>
        </p:txBody>
      </p:sp>
      <p:sp>
        <p:nvSpPr>
          <p:cNvPr id="3" name="TextBox 2"/>
          <p:cNvSpPr txBox="1"/>
          <p:nvPr/>
        </p:nvSpPr>
        <p:spPr>
          <a:xfrm>
            <a:off x="457200" y="1097280"/>
            <a:ext cx="11247120" cy="5486400"/>
          </a:xfrm>
          <a:prstGeom prst="rect">
            <a:avLst/>
          </a:prstGeom>
          <a:noFill/>
        </p:spPr>
        <p:txBody>
          <a:bodyPr wrap="square">
            <a:spAutoFit/>
          </a:bodyPr>
          <a:lstStyle/>
          <a:p>
            <a:pPr>
              <a:spcAft>
                <a:spcPts val="600"/>
              </a:spcAft>
              <a:defRPr sz="1300"/>
            </a:pPr>
            <a:r>
              <a:t>本章では、LKASソフトウェアの主要な調整パラメータおよび外部インタフェースを示す。パラメータ表(表1)は制御周期や作動速度域、各種閾値・ゲインなどの代表値を示すものであり、実車適合により最終値を決定する。</a:t>
            </a:r>
          </a:p>
          <a:p>
            <a:pPr>
              <a:spcAft>
                <a:spcPts val="600"/>
              </a:spcAft>
              <a:defRPr sz="1300"/>
            </a:pPr>
            <a:r>
              <a:t>インタフェース表(表2)はLKAS ECUが授受する主要信号の方向、接続先、データ型、範囲、更新周期を示す。なお本書に示す数値は検討段階の代表値であり、確定値ではない。詳細な信号定義およびタイミング制約は別途インタフェース設計書で規定する。</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228600"/>
            <a:ext cx="11612880" cy="731520"/>
          </a:xfrm>
          <a:prstGeom prst="rect">
            <a:avLst/>
          </a:prstGeom>
          <a:noFill/>
        </p:spPr>
        <p:txBody>
          <a:bodyPr wrap="square">
            <a:spAutoFit/>
          </a:bodyPr>
          <a:lstStyle/>
          <a:p>
            <a:pPr>
              <a:defRPr sz="2400" b="1"/>
            </a:pPr>
            <a:r>
              <a:t>表1 主要パラメータ</a:t>
            </a:r>
          </a:p>
        </p:txBody>
      </p:sp>
      <p:graphicFrame>
        <p:nvGraphicFramePr>
          <p:cNvPr id="3" name="Table 2"/>
          <p:cNvGraphicFramePr>
            <a:graphicFrameLocks noGrp="1"/>
          </p:cNvGraphicFramePr>
          <p:nvPr/>
        </p:nvGraphicFramePr>
        <p:xfrm>
          <a:off x="274320" y="1097280"/>
          <a:ext cx="11612880" cy="4968240"/>
        </p:xfrm>
        <a:graphic>
          <a:graphicData uri="http://schemas.openxmlformats.org/drawingml/2006/table">
            <a:tbl>
              <a:tblPr firstRow="1" bandRow="1">
                <a:tableStyleId>{5C22544A-7EE6-4342-B048-85BDC9FD1C3A}</a:tableStyleId>
              </a:tblPr>
              <a:tblGrid>
                <a:gridCol w="1935480">
                  <a:extLst>
                    <a:ext uri="{9D8B030D-6E8A-4147-A177-3AD203B41FA5}">
                      <a16:colId xmlns:a16="http://schemas.microsoft.com/office/drawing/2014/main" val="20000"/>
                    </a:ext>
                  </a:extLst>
                </a:gridCol>
                <a:gridCol w="1935480">
                  <a:extLst>
                    <a:ext uri="{9D8B030D-6E8A-4147-A177-3AD203B41FA5}">
                      <a16:colId xmlns:a16="http://schemas.microsoft.com/office/drawing/2014/main" val="20001"/>
                    </a:ext>
                  </a:extLst>
                </a:gridCol>
                <a:gridCol w="1935480">
                  <a:extLst>
                    <a:ext uri="{9D8B030D-6E8A-4147-A177-3AD203B41FA5}">
                      <a16:colId xmlns:a16="http://schemas.microsoft.com/office/drawing/2014/main" val="20002"/>
                    </a:ext>
                  </a:extLst>
                </a:gridCol>
                <a:gridCol w="1935480">
                  <a:extLst>
                    <a:ext uri="{9D8B030D-6E8A-4147-A177-3AD203B41FA5}">
                      <a16:colId xmlns:a16="http://schemas.microsoft.com/office/drawing/2014/main" val="20003"/>
                    </a:ext>
                  </a:extLst>
                </a:gridCol>
                <a:gridCol w="1935480">
                  <a:extLst>
                    <a:ext uri="{9D8B030D-6E8A-4147-A177-3AD203B41FA5}">
                      <a16:colId xmlns:a16="http://schemas.microsoft.com/office/drawing/2014/main" val="20004"/>
                    </a:ext>
                  </a:extLst>
                </a:gridCol>
                <a:gridCol w="1935480">
                  <a:extLst>
                    <a:ext uri="{9D8B030D-6E8A-4147-A177-3AD203B41FA5}">
                      <a16:colId xmlns:a16="http://schemas.microsoft.com/office/drawing/2014/main" val="20005"/>
                    </a:ext>
                  </a:extLst>
                </a:gridCol>
              </a:tblGrid>
              <a:tr h="274320">
                <a:tc>
                  <a:txBody>
                    <a:bodyPr/>
                    <a:lstStyle/>
                    <a:p>
                      <a:pPr>
                        <a:defRPr sz="1000"/>
                      </a:pPr>
                      <a:r>
                        <a:t>ID</a:t>
                      </a:r>
                    </a:p>
                  </a:txBody>
                  <a:tcPr/>
                </a:tc>
                <a:tc>
                  <a:txBody>
                    <a:bodyPr/>
                    <a:lstStyle/>
                    <a:p>
                      <a:pPr>
                        <a:defRPr sz="1000"/>
                      </a:pPr>
                      <a:r>
                        <a:t>パラメータ名</a:t>
                      </a:r>
                    </a:p>
                  </a:txBody>
                  <a:tcPr/>
                </a:tc>
                <a:tc>
                  <a:txBody>
                    <a:bodyPr/>
                    <a:lstStyle/>
                    <a:p>
                      <a:pPr>
                        <a:defRPr sz="1000"/>
                      </a:pPr>
                      <a:r>
                        <a:t>記号</a:t>
                      </a:r>
                    </a:p>
                  </a:txBody>
                  <a:tcPr/>
                </a:tc>
                <a:tc>
                  <a:txBody>
                    <a:bodyPr/>
                    <a:lstStyle/>
                    <a:p>
                      <a:pPr>
                        <a:defRPr sz="1000"/>
                      </a:pPr>
                      <a:r>
                        <a:t>代表値</a:t>
                      </a:r>
                    </a:p>
                  </a:txBody>
                  <a:tcPr/>
                </a:tc>
                <a:tc>
                  <a:txBody>
                    <a:bodyPr/>
                    <a:lstStyle/>
                    <a:p>
                      <a:pPr>
                        <a:defRPr sz="1000"/>
                      </a:pPr>
                      <a:r>
                        <a:t>単位</a:t>
                      </a:r>
                    </a:p>
                  </a:txBody>
                  <a:tcPr/>
                </a:tc>
                <a:tc>
                  <a:txBody>
                    <a:bodyPr/>
                    <a:lstStyle/>
                    <a:p>
                      <a:pPr>
                        <a:defRPr sz="1000"/>
                      </a:pPr>
                      <a:r>
                        <a:t>説明</a:t>
                      </a:r>
                    </a:p>
                  </a:txBody>
                  <a:tcPr/>
                </a:tc>
                <a:extLst>
                  <a:ext uri="{0D108BD9-81ED-4DB2-BD59-A6C34878D82A}">
                    <a16:rowId xmlns:a16="http://schemas.microsoft.com/office/drawing/2014/main" val="10000"/>
                  </a:ext>
                </a:extLst>
              </a:tr>
              <a:tr h="274320">
                <a:tc>
                  <a:txBody>
                    <a:bodyPr/>
                    <a:lstStyle/>
                    <a:p>
                      <a:pPr>
                        <a:defRPr sz="1000"/>
                      </a:pPr>
                      <a:r>
                        <a:t>P01</a:t>
                      </a:r>
                    </a:p>
                  </a:txBody>
                  <a:tcPr/>
                </a:tc>
                <a:tc>
                  <a:txBody>
                    <a:bodyPr/>
                    <a:lstStyle/>
                    <a:p>
                      <a:pPr>
                        <a:defRPr sz="1000"/>
                      </a:pPr>
                      <a:r>
                        <a:t>制御周期</a:t>
                      </a:r>
                    </a:p>
                  </a:txBody>
                  <a:tcPr/>
                </a:tc>
                <a:tc>
                  <a:txBody>
                    <a:bodyPr/>
                    <a:lstStyle/>
                    <a:p>
                      <a:pPr>
                        <a:defRPr sz="1000"/>
                      </a:pPr>
                      <a:r>
                        <a:t>Tc</a:t>
                      </a:r>
                    </a:p>
                  </a:txBody>
                  <a:tcPr/>
                </a:tc>
                <a:tc>
                  <a:txBody>
                    <a:bodyPr/>
                    <a:lstStyle/>
                    <a:p>
                      <a:pPr>
                        <a:defRPr sz="1000"/>
                      </a:pPr>
                      <a:r>
                        <a:t>20</a:t>
                      </a:r>
                    </a:p>
                  </a:txBody>
                  <a:tcPr/>
                </a:tc>
                <a:tc>
                  <a:txBody>
                    <a:bodyPr/>
                    <a:lstStyle/>
                    <a:p>
                      <a:pPr>
                        <a:defRPr sz="1000"/>
                      </a:pPr>
                      <a:r>
                        <a:t>ms</a:t>
                      </a:r>
                    </a:p>
                  </a:txBody>
                  <a:tcPr/>
                </a:tc>
                <a:tc>
                  <a:txBody>
                    <a:bodyPr/>
                    <a:lstStyle/>
                    <a:p>
                      <a:pPr>
                        <a:defRPr sz="1000"/>
                      </a:pPr>
                      <a:r>
                        <a:t>制御演算を実行する周期</a:t>
                      </a:r>
                    </a:p>
                  </a:txBody>
                  <a:tcPr/>
                </a:tc>
                <a:extLst>
                  <a:ext uri="{0D108BD9-81ED-4DB2-BD59-A6C34878D82A}">
                    <a16:rowId xmlns:a16="http://schemas.microsoft.com/office/drawing/2014/main" val="10001"/>
                  </a:ext>
                </a:extLst>
              </a:tr>
              <a:tr h="274320">
                <a:tc>
                  <a:txBody>
                    <a:bodyPr/>
                    <a:lstStyle/>
                    <a:p>
                      <a:pPr>
                        <a:defRPr sz="1000"/>
                      </a:pPr>
                      <a:r>
                        <a:t>P02</a:t>
                      </a:r>
                    </a:p>
                  </a:txBody>
                  <a:tcPr/>
                </a:tc>
                <a:tc>
                  <a:txBody>
                    <a:bodyPr/>
                    <a:lstStyle/>
                    <a:p>
                      <a:pPr>
                        <a:defRPr sz="1000"/>
                      </a:pPr>
                      <a:r>
                        <a:t>作動下限車速</a:t>
                      </a:r>
                    </a:p>
                  </a:txBody>
                  <a:tcPr/>
                </a:tc>
                <a:tc>
                  <a:txBody>
                    <a:bodyPr/>
                    <a:lstStyle/>
                    <a:p>
                      <a:pPr>
                        <a:defRPr sz="1000"/>
                      </a:pPr>
                      <a:r>
                        <a:t>Vmin</a:t>
                      </a:r>
                    </a:p>
                  </a:txBody>
                  <a:tcPr/>
                </a:tc>
                <a:tc>
                  <a:txBody>
                    <a:bodyPr/>
                    <a:lstStyle/>
                    <a:p>
                      <a:pPr>
                        <a:defRPr sz="1000"/>
                      </a:pPr>
                      <a:r>
                        <a:t>65</a:t>
                      </a:r>
                    </a:p>
                  </a:txBody>
                  <a:tcPr/>
                </a:tc>
                <a:tc>
                  <a:txBody>
                    <a:bodyPr/>
                    <a:lstStyle/>
                    <a:p>
                      <a:pPr>
                        <a:defRPr sz="1000"/>
                      </a:pPr>
                      <a:r>
                        <a:t>km/h</a:t>
                      </a:r>
                    </a:p>
                  </a:txBody>
                  <a:tcPr/>
                </a:tc>
                <a:tc>
                  <a:txBody>
                    <a:bodyPr/>
                    <a:lstStyle/>
                    <a:p>
                      <a:pPr>
                        <a:defRPr sz="1000"/>
                      </a:pPr>
                      <a:r>
                        <a:t>操舵介入を許可する下限車速</a:t>
                      </a:r>
                    </a:p>
                  </a:txBody>
                  <a:tcPr/>
                </a:tc>
                <a:extLst>
                  <a:ext uri="{0D108BD9-81ED-4DB2-BD59-A6C34878D82A}">
                    <a16:rowId xmlns:a16="http://schemas.microsoft.com/office/drawing/2014/main" val="10002"/>
                  </a:ext>
                </a:extLst>
              </a:tr>
              <a:tr h="274320">
                <a:tc>
                  <a:txBody>
                    <a:bodyPr/>
                    <a:lstStyle/>
                    <a:p>
                      <a:pPr>
                        <a:defRPr sz="1000"/>
                      </a:pPr>
                      <a:r>
                        <a:t>P03</a:t>
                      </a:r>
                    </a:p>
                  </a:txBody>
                  <a:tcPr/>
                </a:tc>
                <a:tc>
                  <a:txBody>
                    <a:bodyPr/>
                    <a:lstStyle/>
                    <a:p>
                      <a:pPr>
                        <a:defRPr sz="1000"/>
                      </a:pPr>
                      <a:r>
                        <a:t>作動上限車速</a:t>
                      </a:r>
                    </a:p>
                  </a:txBody>
                  <a:tcPr/>
                </a:tc>
                <a:tc>
                  <a:txBody>
                    <a:bodyPr/>
                    <a:lstStyle/>
                    <a:p>
                      <a:pPr>
                        <a:defRPr sz="1000"/>
                      </a:pPr>
                      <a:r>
                        <a:t>Vmax</a:t>
                      </a:r>
                    </a:p>
                  </a:txBody>
                  <a:tcPr/>
                </a:tc>
                <a:tc>
                  <a:txBody>
                    <a:bodyPr/>
                    <a:lstStyle/>
                    <a:p>
                      <a:pPr>
                        <a:defRPr sz="1000"/>
                      </a:pPr>
                      <a:r>
                        <a:t>180</a:t>
                      </a:r>
                    </a:p>
                  </a:txBody>
                  <a:tcPr/>
                </a:tc>
                <a:tc>
                  <a:txBody>
                    <a:bodyPr/>
                    <a:lstStyle/>
                    <a:p>
                      <a:pPr>
                        <a:defRPr sz="1000"/>
                      </a:pPr>
                      <a:r>
                        <a:t>km/h</a:t>
                      </a:r>
                    </a:p>
                  </a:txBody>
                  <a:tcPr/>
                </a:tc>
                <a:tc>
                  <a:txBody>
                    <a:bodyPr/>
                    <a:lstStyle/>
                    <a:p>
                      <a:pPr>
                        <a:defRPr sz="1000"/>
                      </a:pPr>
                      <a:r>
                        <a:t>操舵介入を許可する上限車速</a:t>
                      </a:r>
                    </a:p>
                  </a:txBody>
                  <a:tcPr/>
                </a:tc>
                <a:extLst>
                  <a:ext uri="{0D108BD9-81ED-4DB2-BD59-A6C34878D82A}">
                    <a16:rowId xmlns:a16="http://schemas.microsoft.com/office/drawing/2014/main" val="10003"/>
                  </a:ext>
                </a:extLst>
              </a:tr>
              <a:tr h="274320">
                <a:tc>
                  <a:txBody>
                    <a:bodyPr/>
                    <a:lstStyle/>
                    <a:p>
                      <a:pPr>
                        <a:defRPr sz="1000"/>
                      </a:pPr>
                      <a:r>
                        <a:t>P04</a:t>
                      </a:r>
                    </a:p>
                  </a:txBody>
                  <a:tcPr/>
                </a:tc>
                <a:tc>
                  <a:txBody>
                    <a:bodyPr/>
                    <a:lstStyle/>
                    <a:p>
                      <a:pPr>
                        <a:defRPr sz="1000"/>
                      </a:pPr>
                      <a:r>
                        <a:t>最大補助操舵トルク</a:t>
                      </a:r>
                    </a:p>
                  </a:txBody>
                  <a:tcPr/>
                </a:tc>
                <a:tc>
                  <a:txBody>
                    <a:bodyPr/>
                    <a:lstStyle/>
                    <a:p>
                      <a:pPr>
                        <a:defRPr sz="1000"/>
                      </a:pPr>
                      <a:r>
                        <a:t>Tmax</a:t>
                      </a:r>
                    </a:p>
                  </a:txBody>
                  <a:tcPr/>
                </a:tc>
                <a:tc>
                  <a:txBody>
                    <a:bodyPr/>
                    <a:lstStyle/>
                    <a:p>
                      <a:pPr>
                        <a:defRPr sz="1000"/>
                      </a:pPr>
                      <a:r>
                        <a:t>3.0</a:t>
                      </a:r>
                    </a:p>
                  </a:txBody>
                  <a:tcPr/>
                </a:tc>
                <a:tc>
                  <a:txBody>
                    <a:bodyPr/>
                    <a:lstStyle/>
                    <a:p>
                      <a:pPr>
                        <a:defRPr sz="1000"/>
                      </a:pPr>
                      <a:r>
                        <a:t>N*m</a:t>
                      </a:r>
                    </a:p>
                  </a:txBody>
                  <a:tcPr/>
                </a:tc>
                <a:tc>
                  <a:txBody>
                    <a:bodyPr/>
                    <a:lstStyle/>
                    <a:p>
                      <a:pPr>
                        <a:defRPr sz="1000"/>
                      </a:pPr>
                      <a:r>
                        <a:t>EPSへ指令する補助トルクの上限</a:t>
                      </a:r>
                    </a:p>
                  </a:txBody>
                  <a:tcPr/>
                </a:tc>
                <a:extLst>
                  <a:ext uri="{0D108BD9-81ED-4DB2-BD59-A6C34878D82A}">
                    <a16:rowId xmlns:a16="http://schemas.microsoft.com/office/drawing/2014/main" val="10004"/>
                  </a:ext>
                </a:extLst>
              </a:tr>
              <a:tr h="274320">
                <a:tc>
                  <a:txBody>
                    <a:bodyPr/>
                    <a:lstStyle/>
                    <a:p>
                      <a:pPr>
                        <a:defRPr sz="1000"/>
                      </a:pPr>
                      <a:r>
                        <a:t>P05</a:t>
                      </a:r>
                    </a:p>
                  </a:txBody>
                  <a:tcPr/>
                </a:tc>
                <a:tc>
                  <a:txBody>
                    <a:bodyPr/>
                    <a:lstStyle/>
                    <a:p>
                      <a:pPr>
                        <a:defRPr sz="1000"/>
                      </a:pPr>
                      <a:r>
                        <a:t>トルク立上り勾配</a:t>
                      </a:r>
                    </a:p>
                  </a:txBody>
                  <a:tcPr/>
                </a:tc>
                <a:tc>
                  <a:txBody>
                    <a:bodyPr/>
                    <a:lstStyle/>
                    <a:p>
                      <a:pPr>
                        <a:defRPr sz="1000"/>
                      </a:pPr>
                      <a:r>
                        <a:t>dTdt</a:t>
                      </a:r>
                    </a:p>
                  </a:txBody>
                  <a:tcPr/>
                </a:tc>
                <a:tc>
                  <a:txBody>
                    <a:bodyPr/>
                    <a:lstStyle/>
                    <a:p>
                      <a:pPr>
                        <a:defRPr sz="1000"/>
                      </a:pPr>
                      <a:r>
                        <a:t>8.0</a:t>
                      </a:r>
                    </a:p>
                  </a:txBody>
                  <a:tcPr/>
                </a:tc>
                <a:tc>
                  <a:txBody>
                    <a:bodyPr/>
                    <a:lstStyle/>
                    <a:p>
                      <a:pPr>
                        <a:defRPr sz="1000"/>
                      </a:pPr>
                      <a:r>
                        <a:t>N*m/s</a:t>
                      </a:r>
                    </a:p>
                  </a:txBody>
                  <a:tcPr/>
                </a:tc>
                <a:tc>
                  <a:txBody>
                    <a:bodyPr/>
                    <a:lstStyle/>
                    <a:p>
                      <a:pPr>
                        <a:defRPr sz="1000"/>
                      </a:pPr>
                      <a:r>
                        <a:t>補助トルクの単位時間あたり変化上限</a:t>
                      </a:r>
                    </a:p>
                  </a:txBody>
                  <a:tcPr/>
                </a:tc>
                <a:extLst>
                  <a:ext uri="{0D108BD9-81ED-4DB2-BD59-A6C34878D82A}">
                    <a16:rowId xmlns:a16="http://schemas.microsoft.com/office/drawing/2014/main" val="10005"/>
                  </a:ext>
                </a:extLst>
              </a:tr>
              <a:tr h="274320">
                <a:tc>
                  <a:txBody>
                    <a:bodyPr/>
                    <a:lstStyle/>
                    <a:p>
                      <a:pPr>
                        <a:defRPr sz="1000"/>
                      </a:pPr>
                      <a:r>
                        <a:t>P06</a:t>
                      </a:r>
                    </a:p>
                  </a:txBody>
                  <a:tcPr/>
                </a:tc>
                <a:tc>
                  <a:txBody>
                    <a:bodyPr/>
                    <a:lstStyle/>
                    <a:p>
                      <a:pPr>
                        <a:defRPr sz="1000"/>
                      </a:pPr>
                      <a:r>
                        <a:t>オーバーライド判定トルク</a:t>
                      </a:r>
                    </a:p>
                  </a:txBody>
                  <a:tcPr/>
                </a:tc>
                <a:tc>
                  <a:txBody>
                    <a:bodyPr/>
                    <a:lstStyle/>
                    <a:p>
                      <a:pPr>
                        <a:defRPr sz="1000"/>
                      </a:pPr>
                      <a:r>
                        <a:t>Tovr</a:t>
                      </a:r>
                    </a:p>
                  </a:txBody>
                  <a:tcPr/>
                </a:tc>
                <a:tc>
                  <a:txBody>
                    <a:bodyPr/>
                    <a:lstStyle/>
                    <a:p>
                      <a:pPr>
                        <a:defRPr sz="1000"/>
                      </a:pPr>
                      <a:r>
                        <a:t>2.0</a:t>
                      </a:r>
                    </a:p>
                  </a:txBody>
                  <a:tcPr/>
                </a:tc>
                <a:tc>
                  <a:txBody>
                    <a:bodyPr/>
                    <a:lstStyle/>
                    <a:p>
                      <a:pPr>
                        <a:defRPr sz="1000"/>
                      </a:pPr>
                      <a:r>
                        <a:t>N*m</a:t>
                      </a:r>
                    </a:p>
                  </a:txBody>
                  <a:tcPr/>
                </a:tc>
                <a:tc>
                  <a:txBody>
                    <a:bodyPr/>
                    <a:lstStyle/>
                    <a:p>
                      <a:pPr>
                        <a:defRPr sz="1000"/>
                      </a:pPr>
                      <a:r>
                        <a:t>ドライバ操舵と判定する閾値</a:t>
                      </a:r>
                    </a:p>
                  </a:txBody>
                  <a:tcPr/>
                </a:tc>
                <a:extLst>
                  <a:ext uri="{0D108BD9-81ED-4DB2-BD59-A6C34878D82A}">
                    <a16:rowId xmlns:a16="http://schemas.microsoft.com/office/drawing/2014/main" val="10006"/>
                  </a:ext>
                </a:extLst>
              </a:tr>
              <a:tr h="274320">
                <a:tc>
                  <a:txBody>
                    <a:bodyPr/>
                    <a:lstStyle/>
                    <a:p>
                      <a:pPr>
                        <a:defRPr sz="1000"/>
                      </a:pPr>
                      <a:r>
                        <a:t>P07</a:t>
                      </a:r>
                    </a:p>
                  </a:txBody>
                  <a:tcPr/>
                </a:tc>
                <a:tc>
                  <a:txBody>
                    <a:bodyPr/>
                    <a:lstStyle/>
                    <a:p>
                      <a:pPr>
                        <a:defRPr sz="1000"/>
                      </a:pPr>
                      <a:r>
                        <a:t>横偏差警報閾値</a:t>
                      </a:r>
                    </a:p>
                  </a:txBody>
                  <a:tcPr/>
                </a:tc>
                <a:tc>
                  <a:txBody>
                    <a:bodyPr/>
                    <a:lstStyle/>
                    <a:p>
                      <a:pPr>
                        <a:defRPr sz="1000"/>
                      </a:pPr>
                      <a:r>
                        <a:t>Ywarn</a:t>
                      </a:r>
                    </a:p>
                  </a:txBody>
                  <a:tcPr/>
                </a:tc>
                <a:tc>
                  <a:txBody>
                    <a:bodyPr/>
                    <a:lstStyle/>
                    <a:p>
                      <a:pPr>
                        <a:defRPr sz="1000"/>
                      </a:pPr>
                      <a:r>
                        <a:t>0.40</a:t>
                      </a:r>
                    </a:p>
                  </a:txBody>
                  <a:tcPr/>
                </a:tc>
                <a:tc>
                  <a:txBody>
                    <a:bodyPr/>
                    <a:lstStyle/>
                    <a:p>
                      <a:pPr>
                        <a:defRPr sz="1000"/>
                      </a:pPr>
                      <a:r>
                        <a:t>m</a:t>
                      </a:r>
                    </a:p>
                  </a:txBody>
                  <a:tcPr/>
                </a:tc>
                <a:tc>
                  <a:txBody>
                    <a:bodyPr/>
                    <a:lstStyle/>
                    <a:p>
                      <a:pPr>
                        <a:defRPr sz="1000"/>
                      </a:pPr>
                      <a:r>
                        <a:t>逸脱警報を発する横偏差閾値</a:t>
                      </a:r>
                    </a:p>
                  </a:txBody>
                  <a:tcPr/>
                </a:tc>
                <a:extLst>
                  <a:ext uri="{0D108BD9-81ED-4DB2-BD59-A6C34878D82A}">
                    <a16:rowId xmlns:a16="http://schemas.microsoft.com/office/drawing/2014/main" val="10007"/>
                  </a:ext>
                </a:extLst>
              </a:tr>
              <a:tr h="274320">
                <a:tc>
                  <a:txBody>
                    <a:bodyPr/>
                    <a:lstStyle/>
                    <a:p>
                      <a:pPr>
                        <a:defRPr sz="1000"/>
                      </a:pPr>
                      <a:r>
                        <a:t>P08</a:t>
                      </a:r>
                    </a:p>
                  </a:txBody>
                  <a:tcPr/>
                </a:tc>
                <a:tc>
                  <a:txBody>
                    <a:bodyPr/>
                    <a:lstStyle/>
                    <a:p>
                      <a:pPr>
                        <a:defRPr sz="1000"/>
                      </a:pPr>
                      <a:r>
                        <a:t>逸脱予測時間閾値</a:t>
                      </a:r>
                    </a:p>
                  </a:txBody>
                  <a:tcPr/>
                </a:tc>
                <a:tc>
                  <a:txBody>
                    <a:bodyPr/>
                    <a:lstStyle/>
                    <a:p>
                      <a:pPr>
                        <a:defRPr sz="1000"/>
                      </a:pPr>
                      <a:r>
                        <a:t>TLCth</a:t>
                      </a:r>
                    </a:p>
                  </a:txBody>
                  <a:tcPr/>
                </a:tc>
                <a:tc>
                  <a:txBody>
                    <a:bodyPr/>
                    <a:lstStyle/>
                    <a:p>
                      <a:pPr>
                        <a:defRPr sz="1000"/>
                      </a:pPr>
                      <a:r>
                        <a:t>0.80</a:t>
                      </a:r>
                    </a:p>
                  </a:txBody>
                  <a:tcPr/>
                </a:tc>
                <a:tc>
                  <a:txBody>
                    <a:bodyPr/>
                    <a:lstStyle/>
                    <a:p>
                      <a:pPr>
                        <a:defRPr sz="1000"/>
                      </a:pPr>
                      <a:r>
                        <a:t>s</a:t>
                      </a:r>
                    </a:p>
                  </a:txBody>
                  <a:tcPr/>
                </a:tc>
                <a:tc>
                  <a:txBody>
                    <a:bodyPr/>
                    <a:lstStyle/>
                    <a:p>
                      <a:pPr>
                        <a:defRPr sz="1000"/>
                      </a:pPr>
                      <a:r>
                        <a:t>逸脱傾向ありと判定するTLC閾値</a:t>
                      </a:r>
                    </a:p>
                  </a:txBody>
                  <a:tcPr/>
                </a:tc>
                <a:extLst>
                  <a:ext uri="{0D108BD9-81ED-4DB2-BD59-A6C34878D82A}">
                    <a16:rowId xmlns:a16="http://schemas.microsoft.com/office/drawing/2014/main" val="10008"/>
                  </a:ext>
                </a:extLst>
              </a:tr>
              <a:tr h="274320">
                <a:tc>
                  <a:txBody>
                    <a:bodyPr/>
                    <a:lstStyle/>
                    <a:p>
                      <a:pPr>
                        <a:defRPr sz="1000"/>
                      </a:pPr>
                      <a:r>
                        <a:t>P09</a:t>
                      </a:r>
                    </a:p>
                  </a:txBody>
                  <a:tcPr/>
                </a:tc>
                <a:tc>
                  <a:txBody>
                    <a:bodyPr/>
                    <a:lstStyle/>
                    <a:p>
                      <a:pPr>
                        <a:defRPr sz="1000"/>
                      </a:pPr>
                      <a:r>
                        <a:t>車線曲率上限</a:t>
                      </a:r>
                    </a:p>
                  </a:txBody>
                  <a:tcPr/>
                </a:tc>
                <a:tc>
                  <a:txBody>
                    <a:bodyPr/>
                    <a:lstStyle/>
                    <a:p>
                      <a:pPr>
                        <a:defRPr sz="1000"/>
                      </a:pPr>
                      <a:r>
                        <a:t>Kmax</a:t>
                      </a:r>
                    </a:p>
                  </a:txBody>
                  <a:tcPr/>
                </a:tc>
                <a:tc>
                  <a:txBody>
                    <a:bodyPr/>
                    <a:lstStyle/>
                    <a:p>
                      <a:pPr>
                        <a:defRPr sz="1000"/>
                      </a:pPr>
                      <a:r>
                        <a:t>0.0125</a:t>
                      </a:r>
                    </a:p>
                  </a:txBody>
                  <a:tcPr/>
                </a:tc>
                <a:tc>
                  <a:txBody>
                    <a:bodyPr/>
                    <a:lstStyle/>
                    <a:p>
                      <a:pPr>
                        <a:defRPr sz="1000"/>
                      </a:pPr>
                      <a:r>
                        <a:t>1/m</a:t>
                      </a:r>
                    </a:p>
                  </a:txBody>
                  <a:tcPr/>
                </a:tc>
                <a:tc>
                  <a:txBody>
                    <a:bodyPr/>
                    <a:lstStyle/>
                    <a:p>
                      <a:pPr>
                        <a:defRPr sz="1000"/>
                      </a:pPr>
                      <a:r>
                        <a:t>作動を許可する曲率上限(R=80m)</a:t>
                      </a:r>
                    </a:p>
                  </a:txBody>
                  <a:tcPr/>
                </a:tc>
                <a:extLst>
                  <a:ext uri="{0D108BD9-81ED-4DB2-BD59-A6C34878D82A}">
                    <a16:rowId xmlns:a16="http://schemas.microsoft.com/office/drawing/2014/main" val="10009"/>
                  </a:ext>
                </a:extLst>
              </a:tr>
              <a:tr h="274320">
                <a:tc>
                  <a:txBody>
                    <a:bodyPr/>
                    <a:lstStyle/>
                    <a:p>
                      <a:pPr>
                        <a:defRPr sz="1000"/>
                      </a:pPr>
                      <a:r>
                        <a:t>P10</a:t>
                      </a:r>
                    </a:p>
                  </a:txBody>
                  <a:tcPr/>
                </a:tc>
                <a:tc>
                  <a:txBody>
                    <a:bodyPr/>
                    <a:lstStyle/>
                    <a:p>
                      <a:pPr>
                        <a:defRPr sz="1000"/>
                      </a:pPr>
                      <a:r>
                        <a:t>カメラ有効認識距離</a:t>
                      </a:r>
                    </a:p>
                  </a:txBody>
                  <a:tcPr/>
                </a:tc>
                <a:tc>
                  <a:txBody>
                    <a:bodyPr/>
                    <a:lstStyle/>
                    <a:p>
                      <a:pPr>
                        <a:defRPr sz="1000"/>
                      </a:pPr>
                      <a:r>
                        <a:t>Lcam</a:t>
                      </a:r>
                    </a:p>
                  </a:txBody>
                  <a:tcPr/>
                </a:tc>
                <a:tc>
                  <a:txBody>
                    <a:bodyPr/>
                    <a:lstStyle/>
                    <a:p>
                      <a:pPr>
                        <a:defRPr sz="1000"/>
                      </a:pPr>
                      <a:r>
                        <a:t>60</a:t>
                      </a:r>
                    </a:p>
                  </a:txBody>
                  <a:tcPr/>
                </a:tc>
                <a:tc>
                  <a:txBody>
                    <a:bodyPr/>
                    <a:lstStyle/>
                    <a:p>
                      <a:pPr>
                        <a:defRPr sz="1000"/>
                      </a:pPr>
                      <a:r>
                        <a:t>m</a:t>
                      </a:r>
                    </a:p>
                  </a:txBody>
                  <a:tcPr/>
                </a:tc>
                <a:tc>
                  <a:txBody>
                    <a:bodyPr/>
                    <a:lstStyle/>
                    <a:p>
                      <a:pPr>
                        <a:defRPr sz="1000"/>
                      </a:pPr>
                      <a:r>
                        <a:t>車線認識を有効とする前方距離</a:t>
                      </a:r>
                    </a:p>
                  </a:txBody>
                  <a:tcPr/>
                </a:tc>
                <a:extLst>
                  <a:ext uri="{0D108BD9-81ED-4DB2-BD59-A6C34878D82A}">
                    <a16:rowId xmlns:a16="http://schemas.microsoft.com/office/drawing/2014/main" val="10010"/>
                  </a:ext>
                </a:extLst>
              </a:tr>
              <a:tr h="274320">
                <a:tc>
                  <a:txBody>
                    <a:bodyPr/>
                    <a:lstStyle/>
                    <a:p>
                      <a:pPr>
                        <a:defRPr sz="1000"/>
                      </a:pPr>
                      <a:r>
                        <a:t>P11</a:t>
                      </a:r>
                    </a:p>
                  </a:txBody>
                  <a:tcPr/>
                </a:tc>
                <a:tc>
                  <a:txBody>
                    <a:bodyPr/>
                    <a:lstStyle/>
                    <a:p>
                      <a:pPr>
                        <a:defRPr sz="1000"/>
                      </a:pPr>
                      <a:r>
                        <a:t>横偏差制御ゲイン</a:t>
                      </a:r>
                    </a:p>
                  </a:txBody>
                  <a:tcPr/>
                </a:tc>
                <a:tc>
                  <a:txBody>
                    <a:bodyPr/>
                    <a:lstStyle/>
                    <a:p>
                      <a:pPr>
                        <a:defRPr sz="1000"/>
                      </a:pPr>
                      <a:r>
                        <a:t>Ky</a:t>
                      </a:r>
                    </a:p>
                  </a:txBody>
                  <a:tcPr/>
                </a:tc>
                <a:tc>
                  <a:txBody>
                    <a:bodyPr/>
                    <a:lstStyle/>
                    <a:p>
                      <a:pPr>
                        <a:defRPr sz="1000"/>
                      </a:pPr>
                      <a:r>
                        <a:t>0.60</a:t>
                      </a:r>
                    </a:p>
                  </a:txBody>
                  <a:tcPr/>
                </a:tc>
                <a:tc>
                  <a:txBody>
                    <a:bodyPr/>
                    <a:lstStyle/>
                    <a:p>
                      <a:pPr>
                        <a:defRPr sz="1000"/>
                      </a:pPr>
                      <a:r>
                        <a:t>-</a:t>
                      </a:r>
                    </a:p>
                  </a:txBody>
                  <a:tcPr/>
                </a:tc>
                <a:tc>
                  <a:txBody>
                    <a:bodyPr/>
                    <a:lstStyle/>
                    <a:p>
                      <a:pPr>
                        <a:defRPr sz="1000"/>
                      </a:pPr>
                      <a:r>
                        <a:t>横偏差に対する制御ゲイン</a:t>
                      </a:r>
                    </a:p>
                  </a:txBody>
                  <a:tcPr/>
                </a:tc>
                <a:extLst>
                  <a:ext uri="{0D108BD9-81ED-4DB2-BD59-A6C34878D82A}">
                    <a16:rowId xmlns:a16="http://schemas.microsoft.com/office/drawing/2014/main" val="10011"/>
                  </a:ext>
                </a:extLst>
              </a:tr>
              <a:tr h="274320">
                <a:tc>
                  <a:txBody>
                    <a:bodyPr/>
                    <a:lstStyle/>
                    <a:p>
                      <a:pPr>
                        <a:defRPr sz="1000"/>
                      </a:pPr>
                      <a:r>
                        <a:t>P12</a:t>
                      </a:r>
                    </a:p>
                  </a:txBody>
                  <a:tcPr/>
                </a:tc>
                <a:tc>
                  <a:txBody>
                    <a:bodyPr/>
                    <a:lstStyle/>
                    <a:p>
                      <a:pPr>
                        <a:defRPr sz="1000"/>
                      </a:pPr>
                      <a:r>
                        <a:t>ヨー角制御ゲイン</a:t>
                      </a:r>
                    </a:p>
                  </a:txBody>
                  <a:tcPr/>
                </a:tc>
                <a:tc>
                  <a:txBody>
                    <a:bodyPr/>
                    <a:lstStyle/>
                    <a:p>
                      <a:pPr>
                        <a:defRPr sz="1000"/>
                      </a:pPr>
                      <a:r>
                        <a:t>Kpsi</a:t>
                      </a:r>
                    </a:p>
                  </a:txBody>
                  <a:tcPr/>
                </a:tc>
                <a:tc>
                  <a:txBody>
                    <a:bodyPr/>
                    <a:lstStyle/>
                    <a:p>
                      <a:pPr>
                        <a:defRPr sz="1000"/>
                      </a:pPr>
                      <a:r>
                        <a:t>1.20</a:t>
                      </a:r>
                    </a:p>
                  </a:txBody>
                  <a:tcPr/>
                </a:tc>
                <a:tc>
                  <a:txBody>
                    <a:bodyPr/>
                    <a:lstStyle/>
                    <a:p>
                      <a:pPr>
                        <a:defRPr sz="1000"/>
                      </a:pPr>
                      <a:r>
                        <a:t>-</a:t>
                      </a:r>
                    </a:p>
                  </a:txBody>
                  <a:tcPr/>
                </a:tc>
                <a:tc>
                  <a:txBody>
                    <a:bodyPr/>
                    <a:lstStyle/>
                    <a:p>
                      <a:pPr>
                        <a:defRPr sz="1000"/>
                      </a:pPr>
                      <a:r>
                        <a:t>ヨー角偏差に対する制御ゲイン</a:t>
                      </a:r>
                    </a:p>
                  </a:txBody>
                  <a:tcPr/>
                </a:tc>
                <a:extLst>
                  <a:ext uri="{0D108BD9-81ED-4DB2-BD59-A6C34878D82A}">
                    <a16:rowId xmlns:a16="http://schemas.microsoft.com/office/drawing/2014/main" val="10012"/>
                  </a:ext>
                </a:extLst>
              </a:tr>
              <a:tr h="274320">
                <a:tc>
                  <a:txBody>
                    <a:bodyPr/>
                    <a:lstStyle/>
                    <a:p>
                      <a:pPr>
                        <a:defRPr sz="1000"/>
                      </a:pPr>
                      <a:r>
                        <a:t>P13</a:t>
                      </a:r>
                    </a:p>
                  </a:txBody>
                  <a:tcPr/>
                </a:tc>
                <a:tc>
                  <a:txBody>
                    <a:bodyPr/>
                    <a:lstStyle/>
                    <a:p>
                      <a:pPr>
                        <a:defRPr sz="1000"/>
                      </a:pPr>
                      <a:r>
                        <a:t>フォールト確定時間</a:t>
                      </a:r>
                    </a:p>
                  </a:txBody>
                  <a:tcPr/>
                </a:tc>
                <a:tc>
                  <a:txBody>
                    <a:bodyPr/>
                    <a:lstStyle/>
                    <a:p>
                      <a:pPr>
                        <a:defRPr sz="1000"/>
                      </a:pPr>
                      <a:r>
                        <a:t>Tfault</a:t>
                      </a:r>
                    </a:p>
                  </a:txBody>
                  <a:tcPr/>
                </a:tc>
                <a:tc>
                  <a:txBody>
                    <a:bodyPr/>
                    <a:lstStyle/>
                    <a:p>
                      <a:pPr>
                        <a:defRPr sz="1000"/>
                      </a:pPr>
                      <a:r>
                        <a:t>100</a:t>
                      </a:r>
                    </a:p>
                  </a:txBody>
                  <a:tcPr/>
                </a:tc>
                <a:tc>
                  <a:txBody>
                    <a:bodyPr/>
                    <a:lstStyle/>
                    <a:p>
                      <a:pPr>
                        <a:defRPr sz="1000"/>
                      </a:pPr>
                      <a:r>
                        <a:t>ms</a:t>
                      </a:r>
                    </a:p>
                  </a:txBody>
                  <a:tcPr/>
                </a:tc>
                <a:tc>
                  <a:txBody>
                    <a:bodyPr/>
                    <a:lstStyle/>
                    <a:p>
                      <a:pPr>
                        <a:defRPr sz="1000"/>
                      </a:pPr>
                      <a:r>
                        <a:t>故障を確定するまでの継続時間</a:t>
                      </a:r>
                    </a:p>
                  </a:txBody>
                  <a:tcPr/>
                </a:tc>
                <a:extLst>
                  <a:ext uri="{0D108BD9-81ED-4DB2-BD59-A6C34878D82A}">
                    <a16:rowId xmlns:a16="http://schemas.microsoft.com/office/drawing/2014/main" val="10013"/>
                  </a:ext>
                </a:extLst>
              </a:tr>
              <a:tr h="274320">
                <a:tc>
                  <a:txBody>
                    <a:bodyPr/>
                    <a:lstStyle/>
                    <a:p>
                      <a:pPr>
                        <a:defRPr sz="1000"/>
                      </a:pPr>
                      <a:r>
                        <a:t>P14</a:t>
                      </a:r>
                    </a:p>
                  </a:txBody>
                  <a:tcPr/>
                </a:tc>
                <a:tc>
                  <a:txBody>
                    <a:bodyPr/>
                    <a:lstStyle/>
                    <a:p>
                      <a:pPr>
                        <a:defRPr sz="1000"/>
                      </a:pPr>
                      <a:r>
                        <a:t>警報音圧</a:t>
                      </a:r>
                    </a:p>
                  </a:txBody>
                  <a:tcPr/>
                </a:tc>
                <a:tc>
                  <a:txBody>
                    <a:bodyPr/>
                    <a:lstStyle/>
                    <a:p>
                      <a:pPr>
                        <a:defRPr sz="1000"/>
                      </a:pPr>
                      <a:r>
                        <a:t>Lwarn</a:t>
                      </a:r>
                    </a:p>
                  </a:txBody>
                  <a:tcPr/>
                </a:tc>
                <a:tc>
                  <a:txBody>
                    <a:bodyPr/>
                    <a:lstStyle/>
                    <a:p>
                      <a:pPr>
                        <a:defRPr sz="1000"/>
                      </a:pPr>
                      <a:r>
                        <a:t>70</a:t>
                      </a:r>
                    </a:p>
                  </a:txBody>
                  <a:tcPr/>
                </a:tc>
                <a:tc>
                  <a:txBody>
                    <a:bodyPr/>
                    <a:lstStyle/>
                    <a:p>
                      <a:pPr>
                        <a:defRPr sz="1000"/>
                      </a:pPr>
                      <a:r>
                        <a:t>dB(A)</a:t>
                      </a:r>
                    </a:p>
                  </a:txBody>
                  <a:tcPr/>
                </a:tc>
                <a:tc>
                  <a:txBody>
                    <a:bodyPr/>
                    <a:lstStyle/>
                    <a:p>
                      <a:pPr>
                        <a:defRPr sz="1000"/>
                      </a:pPr>
                      <a:r>
                        <a:t>聴覚警報の音圧レベル</a:t>
                      </a:r>
                    </a:p>
                  </a:txBody>
                  <a:tcPr/>
                </a:tc>
                <a:extLst>
                  <a:ext uri="{0D108BD9-81ED-4DB2-BD59-A6C34878D82A}">
                    <a16:rowId xmlns:a16="http://schemas.microsoft.com/office/drawing/2014/main" val="1001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228600"/>
            <a:ext cx="11612880" cy="731520"/>
          </a:xfrm>
          <a:prstGeom prst="rect">
            <a:avLst/>
          </a:prstGeom>
          <a:noFill/>
        </p:spPr>
        <p:txBody>
          <a:bodyPr wrap="square">
            <a:spAutoFit/>
          </a:bodyPr>
          <a:lstStyle/>
          <a:p>
            <a:pPr>
              <a:defRPr sz="2400" b="1"/>
            </a:pPr>
            <a:r>
              <a:t>表2 外部インタフェース</a:t>
            </a:r>
          </a:p>
        </p:txBody>
      </p:sp>
      <p:graphicFrame>
        <p:nvGraphicFramePr>
          <p:cNvPr id="3" name="Table 2"/>
          <p:cNvGraphicFramePr>
            <a:graphicFrameLocks noGrp="1"/>
          </p:cNvGraphicFramePr>
          <p:nvPr/>
        </p:nvGraphicFramePr>
        <p:xfrm>
          <a:off x="274320" y="1097280"/>
          <a:ext cx="11612880" cy="3749040"/>
        </p:xfrm>
        <a:graphic>
          <a:graphicData uri="http://schemas.openxmlformats.org/drawingml/2006/table">
            <a:tbl>
              <a:tblPr firstRow="1" bandRow="1">
                <a:tableStyleId>{5C22544A-7EE6-4342-B048-85BDC9FD1C3A}</a:tableStyleId>
              </a:tblPr>
              <a:tblGrid>
                <a:gridCol w="1451610">
                  <a:extLst>
                    <a:ext uri="{9D8B030D-6E8A-4147-A177-3AD203B41FA5}">
                      <a16:colId xmlns:a16="http://schemas.microsoft.com/office/drawing/2014/main" val="20000"/>
                    </a:ext>
                  </a:extLst>
                </a:gridCol>
                <a:gridCol w="1451610">
                  <a:extLst>
                    <a:ext uri="{9D8B030D-6E8A-4147-A177-3AD203B41FA5}">
                      <a16:colId xmlns:a16="http://schemas.microsoft.com/office/drawing/2014/main" val="20001"/>
                    </a:ext>
                  </a:extLst>
                </a:gridCol>
                <a:gridCol w="1451610">
                  <a:extLst>
                    <a:ext uri="{9D8B030D-6E8A-4147-A177-3AD203B41FA5}">
                      <a16:colId xmlns:a16="http://schemas.microsoft.com/office/drawing/2014/main" val="20002"/>
                    </a:ext>
                  </a:extLst>
                </a:gridCol>
                <a:gridCol w="1451610">
                  <a:extLst>
                    <a:ext uri="{9D8B030D-6E8A-4147-A177-3AD203B41FA5}">
                      <a16:colId xmlns:a16="http://schemas.microsoft.com/office/drawing/2014/main" val="20003"/>
                    </a:ext>
                  </a:extLst>
                </a:gridCol>
                <a:gridCol w="1451610">
                  <a:extLst>
                    <a:ext uri="{9D8B030D-6E8A-4147-A177-3AD203B41FA5}">
                      <a16:colId xmlns:a16="http://schemas.microsoft.com/office/drawing/2014/main" val="20004"/>
                    </a:ext>
                  </a:extLst>
                </a:gridCol>
                <a:gridCol w="1451610">
                  <a:extLst>
                    <a:ext uri="{9D8B030D-6E8A-4147-A177-3AD203B41FA5}">
                      <a16:colId xmlns:a16="http://schemas.microsoft.com/office/drawing/2014/main" val="20005"/>
                    </a:ext>
                  </a:extLst>
                </a:gridCol>
                <a:gridCol w="1451610">
                  <a:extLst>
                    <a:ext uri="{9D8B030D-6E8A-4147-A177-3AD203B41FA5}">
                      <a16:colId xmlns:a16="http://schemas.microsoft.com/office/drawing/2014/main" val="20006"/>
                    </a:ext>
                  </a:extLst>
                </a:gridCol>
                <a:gridCol w="1451610">
                  <a:extLst>
                    <a:ext uri="{9D8B030D-6E8A-4147-A177-3AD203B41FA5}">
                      <a16:colId xmlns:a16="http://schemas.microsoft.com/office/drawing/2014/main" val="20007"/>
                    </a:ext>
                  </a:extLst>
                </a:gridCol>
              </a:tblGrid>
              <a:tr h="274320">
                <a:tc>
                  <a:txBody>
                    <a:bodyPr/>
                    <a:lstStyle/>
                    <a:p>
                      <a:pPr>
                        <a:defRPr sz="900"/>
                      </a:pPr>
                      <a:r>
                        <a:t>ID</a:t>
                      </a:r>
                    </a:p>
                  </a:txBody>
                  <a:tcPr/>
                </a:tc>
                <a:tc>
                  <a:txBody>
                    <a:bodyPr/>
                    <a:lstStyle/>
                    <a:p>
                      <a:pPr>
                        <a:defRPr sz="900"/>
                      </a:pPr>
                      <a:r>
                        <a:t>信号名</a:t>
                      </a:r>
                    </a:p>
                  </a:txBody>
                  <a:tcPr/>
                </a:tc>
                <a:tc>
                  <a:txBody>
                    <a:bodyPr/>
                    <a:lstStyle/>
                    <a:p>
                      <a:pPr>
                        <a:defRPr sz="900"/>
                      </a:pPr>
                      <a:r>
                        <a:t>方向</a:t>
                      </a:r>
                    </a:p>
                  </a:txBody>
                  <a:tcPr/>
                </a:tc>
                <a:tc>
                  <a:txBody>
                    <a:bodyPr/>
                    <a:lstStyle/>
                    <a:p>
                      <a:pPr>
                        <a:defRPr sz="900"/>
                      </a:pPr>
                      <a:r>
                        <a:t>接続先</a:t>
                      </a:r>
                    </a:p>
                  </a:txBody>
                  <a:tcPr/>
                </a:tc>
                <a:tc>
                  <a:txBody>
                    <a:bodyPr/>
                    <a:lstStyle/>
                    <a:p>
                      <a:pPr>
                        <a:defRPr sz="900"/>
                      </a:pPr>
                      <a:r>
                        <a:t>データ型</a:t>
                      </a:r>
                    </a:p>
                  </a:txBody>
                  <a:tcPr/>
                </a:tc>
                <a:tc>
                  <a:txBody>
                    <a:bodyPr/>
                    <a:lstStyle/>
                    <a:p>
                      <a:pPr>
                        <a:defRPr sz="900"/>
                      </a:pPr>
                      <a:r>
                        <a:t>範囲/分解能</a:t>
                      </a:r>
                    </a:p>
                  </a:txBody>
                  <a:tcPr/>
                </a:tc>
                <a:tc>
                  <a:txBody>
                    <a:bodyPr/>
                    <a:lstStyle/>
                    <a:p>
                      <a:pPr>
                        <a:defRPr sz="900"/>
                      </a:pPr>
                      <a:r>
                        <a:t>更新周期</a:t>
                      </a:r>
                    </a:p>
                  </a:txBody>
                  <a:tcPr/>
                </a:tc>
                <a:tc>
                  <a:txBody>
                    <a:bodyPr/>
                    <a:lstStyle/>
                    <a:p>
                      <a:pPr>
                        <a:defRPr sz="900"/>
                      </a:pPr>
                      <a:r>
                        <a:t>説明</a:t>
                      </a:r>
                    </a:p>
                  </a:txBody>
                  <a:tcPr/>
                </a:tc>
                <a:extLst>
                  <a:ext uri="{0D108BD9-81ED-4DB2-BD59-A6C34878D82A}">
                    <a16:rowId xmlns:a16="http://schemas.microsoft.com/office/drawing/2014/main" val="10000"/>
                  </a:ext>
                </a:extLst>
              </a:tr>
              <a:tr h="274320">
                <a:tc>
                  <a:txBody>
                    <a:bodyPr/>
                    <a:lstStyle/>
                    <a:p>
                      <a:pPr>
                        <a:defRPr sz="900"/>
                      </a:pPr>
                      <a:r>
                        <a:t>I01</a:t>
                      </a:r>
                    </a:p>
                  </a:txBody>
                  <a:tcPr/>
                </a:tc>
                <a:tc>
                  <a:txBody>
                    <a:bodyPr/>
                    <a:lstStyle/>
                    <a:p>
                      <a:pPr>
                        <a:defRPr sz="900"/>
                      </a:pPr>
                      <a:r>
                        <a:t>VehicleSpeed</a:t>
                      </a:r>
                    </a:p>
                  </a:txBody>
                  <a:tcPr/>
                </a:tc>
                <a:tc>
                  <a:txBody>
                    <a:bodyPr/>
                    <a:lstStyle/>
                    <a:p>
                      <a:pPr>
                        <a:defRPr sz="900"/>
                      </a:pPr>
                      <a:r>
                        <a:t>In</a:t>
                      </a:r>
                    </a:p>
                  </a:txBody>
                  <a:tcPr/>
                </a:tc>
                <a:tc>
                  <a:txBody>
                    <a:bodyPr/>
                    <a:lstStyle/>
                    <a:p>
                      <a:pPr>
                        <a:defRPr sz="900"/>
                      </a:pPr>
                      <a:r>
                        <a:t>車輪速/ABS</a:t>
                      </a:r>
                    </a:p>
                  </a:txBody>
                  <a:tcPr/>
                </a:tc>
                <a:tc>
                  <a:txBody>
                    <a:bodyPr/>
                    <a:lstStyle/>
                    <a:p>
                      <a:pPr>
                        <a:defRPr sz="900"/>
                      </a:pPr>
                      <a:r>
                        <a:t>uint16</a:t>
                      </a:r>
                    </a:p>
                  </a:txBody>
                  <a:tcPr/>
                </a:tc>
                <a:tc>
                  <a:txBody>
                    <a:bodyPr/>
                    <a:lstStyle/>
                    <a:p>
                      <a:pPr>
                        <a:defRPr sz="900"/>
                      </a:pPr>
                      <a:r>
                        <a:t>0..250 km/h</a:t>
                      </a:r>
                    </a:p>
                  </a:txBody>
                  <a:tcPr/>
                </a:tc>
                <a:tc>
                  <a:txBody>
                    <a:bodyPr/>
                    <a:lstStyle/>
                    <a:p>
                      <a:pPr>
                        <a:defRPr sz="900"/>
                      </a:pPr>
                      <a:r>
                        <a:t>10 ms</a:t>
                      </a:r>
                    </a:p>
                  </a:txBody>
                  <a:tcPr/>
                </a:tc>
                <a:tc>
                  <a:txBody>
                    <a:bodyPr/>
                    <a:lstStyle/>
                    <a:p>
                      <a:pPr>
                        <a:defRPr sz="900"/>
                      </a:pPr>
                      <a:r>
                        <a:t>自車速度</a:t>
                      </a:r>
                    </a:p>
                  </a:txBody>
                  <a:tcPr/>
                </a:tc>
                <a:extLst>
                  <a:ext uri="{0D108BD9-81ED-4DB2-BD59-A6C34878D82A}">
                    <a16:rowId xmlns:a16="http://schemas.microsoft.com/office/drawing/2014/main" val="10001"/>
                  </a:ext>
                </a:extLst>
              </a:tr>
              <a:tr h="274320">
                <a:tc>
                  <a:txBody>
                    <a:bodyPr/>
                    <a:lstStyle/>
                    <a:p>
                      <a:pPr>
                        <a:defRPr sz="900"/>
                      </a:pPr>
                      <a:r>
                        <a:t>I02</a:t>
                      </a:r>
                    </a:p>
                  </a:txBody>
                  <a:tcPr/>
                </a:tc>
                <a:tc>
                  <a:txBody>
                    <a:bodyPr/>
                    <a:lstStyle/>
                    <a:p>
                      <a:pPr>
                        <a:defRPr sz="900"/>
                      </a:pPr>
                      <a:r>
                        <a:t>SteeringAngle</a:t>
                      </a:r>
                    </a:p>
                  </a:txBody>
                  <a:tcPr/>
                </a:tc>
                <a:tc>
                  <a:txBody>
                    <a:bodyPr/>
                    <a:lstStyle/>
                    <a:p>
                      <a:pPr>
                        <a:defRPr sz="900"/>
                      </a:pPr>
                      <a:r>
                        <a:t>In</a:t>
                      </a:r>
                    </a:p>
                  </a:txBody>
                  <a:tcPr/>
                </a:tc>
                <a:tc>
                  <a:txBody>
                    <a:bodyPr/>
                    <a:lstStyle/>
                    <a:p>
                      <a:pPr>
                        <a:defRPr sz="900"/>
                      </a:pPr>
                      <a:r>
                        <a:t>操舵角センサ</a:t>
                      </a:r>
                    </a:p>
                  </a:txBody>
                  <a:tcPr/>
                </a:tc>
                <a:tc>
                  <a:txBody>
                    <a:bodyPr/>
                    <a:lstStyle/>
                    <a:p>
                      <a:pPr>
                        <a:defRPr sz="900"/>
                      </a:pPr>
                      <a:r>
                        <a:t>int16</a:t>
                      </a:r>
                    </a:p>
                  </a:txBody>
                  <a:tcPr/>
                </a:tc>
                <a:tc>
                  <a:txBody>
                    <a:bodyPr/>
                    <a:lstStyle/>
                    <a:p>
                      <a:pPr>
                        <a:defRPr sz="900"/>
                      </a:pPr>
                      <a:r>
                        <a:t>-720..720 deg</a:t>
                      </a:r>
                    </a:p>
                  </a:txBody>
                  <a:tcPr/>
                </a:tc>
                <a:tc>
                  <a:txBody>
                    <a:bodyPr/>
                    <a:lstStyle/>
                    <a:p>
                      <a:pPr>
                        <a:defRPr sz="900"/>
                      </a:pPr>
                      <a:r>
                        <a:t>10 ms</a:t>
                      </a:r>
                    </a:p>
                  </a:txBody>
                  <a:tcPr/>
                </a:tc>
                <a:tc>
                  <a:txBody>
                    <a:bodyPr/>
                    <a:lstStyle/>
                    <a:p>
                      <a:pPr>
                        <a:defRPr sz="900"/>
                      </a:pPr>
                      <a:r>
                        <a:t>操舵角</a:t>
                      </a:r>
                    </a:p>
                  </a:txBody>
                  <a:tcPr/>
                </a:tc>
                <a:extLst>
                  <a:ext uri="{0D108BD9-81ED-4DB2-BD59-A6C34878D82A}">
                    <a16:rowId xmlns:a16="http://schemas.microsoft.com/office/drawing/2014/main" val="10002"/>
                  </a:ext>
                </a:extLst>
              </a:tr>
              <a:tr h="274320">
                <a:tc>
                  <a:txBody>
                    <a:bodyPr/>
                    <a:lstStyle/>
                    <a:p>
                      <a:pPr>
                        <a:defRPr sz="900"/>
                      </a:pPr>
                      <a:r>
                        <a:t>I03</a:t>
                      </a:r>
                    </a:p>
                  </a:txBody>
                  <a:tcPr/>
                </a:tc>
                <a:tc>
                  <a:txBody>
                    <a:bodyPr/>
                    <a:lstStyle/>
                    <a:p>
                      <a:pPr>
                        <a:defRPr sz="900"/>
                      </a:pPr>
                      <a:r>
                        <a:t>YawRate</a:t>
                      </a:r>
                    </a:p>
                  </a:txBody>
                  <a:tcPr/>
                </a:tc>
                <a:tc>
                  <a:txBody>
                    <a:bodyPr/>
                    <a:lstStyle/>
                    <a:p>
                      <a:pPr>
                        <a:defRPr sz="900"/>
                      </a:pPr>
                      <a:r>
                        <a:t>In</a:t>
                      </a:r>
                    </a:p>
                  </a:txBody>
                  <a:tcPr/>
                </a:tc>
                <a:tc>
                  <a:txBody>
                    <a:bodyPr/>
                    <a:lstStyle/>
                    <a:p>
                      <a:pPr>
                        <a:defRPr sz="900"/>
                      </a:pPr>
                      <a:r>
                        <a:t>ヨーレートセンサ</a:t>
                      </a:r>
                    </a:p>
                  </a:txBody>
                  <a:tcPr/>
                </a:tc>
                <a:tc>
                  <a:txBody>
                    <a:bodyPr/>
                    <a:lstStyle/>
                    <a:p>
                      <a:pPr>
                        <a:defRPr sz="900"/>
                      </a:pPr>
                      <a:r>
                        <a:t>int16</a:t>
                      </a:r>
                    </a:p>
                  </a:txBody>
                  <a:tcPr/>
                </a:tc>
                <a:tc>
                  <a:txBody>
                    <a:bodyPr/>
                    <a:lstStyle/>
                    <a:p>
                      <a:pPr>
                        <a:defRPr sz="900"/>
                      </a:pPr>
                      <a:r>
                        <a:t>-100..100 deg/s</a:t>
                      </a:r>
                    </a:p>
                  </a:txBody>
                  <a:tcPr/>
                </a:tc>
                <a:tc>
                  <a:txBody>
                    <a:bodyPr/>
                    <a:lstStyle/>
                    <a:p>
                      <a:pPr>
                        <a:defRPr sz="900"/>
                      </a:pPr>
                      <a:r>
                        <a:t>10 ms</a:t>
                      </a:r>
                    </a:p>
                  </a:txBody>
                  <a:tcPr/>
                </a:tc>
                <a:tc>
                  <a:txBody>
                    <a:bodyPr/>
                    <a:lstStyle/>
                    <a:p>
                      <a:pPr>
                        <a:defRPr sz="900"/>
                      </a:pPr>
                      <a:r>
                        <a:t>ヨーレート</a:t>
                      </a:r>
                    </a:p>
                  </a:txBody>
                  <a:tcPr/>
                </a:tc>
                <a:extLst>
                  <a:ext uri="{0D108BD9-81ED-4DB2-BD59-A6C34878D82A}">
                    <a16:rowId xmlns:a16="http://schemas.microsoft.com/office/drawing/2014/main" val="10003"/>
                  </a:ext>
                </a:extLst>
              </a:tr>
              <a:tr h="274320">
                <a:tc>
                  <a:txBody>
                    <a:bodyPr/>
                    <a:lstStyle/>
                    <a:p>
                      <a:pPr>
                        <a:defRPr sz="900"/>
                      </a:pPr>
                      <a:r>
                        <a:t>I04</a:t>
                      </a:r>
                    </a:p>
                  </a:txBody>
                  <a:tcPr/>
                </a:tc>
                <a:tc>
                  <a:txBody>
                    <a:bodyPr/>
                    <a:lstStyle/>
                    <a:p>
                      <a:pPr>
                        <a:defRPr sz="900"/>
                      </a:pPr>
                      <a:r>
                        <a:t>DriverTorque</a:t>
                      </a:r>
                    </a:p>
                  </a:txBody>
                  <a:tcPr/>
                </a:tc>
                <a:tc>
                  <a:txBody>
                    <a:bodyPr/>
                    <a:lstStyle/>
                    <a:p>
                      <a:pPr>
                        <a:defRPr sz="900"/>
                      </a:pPr>
                      <a:r>
                        <a:t>In</a:t>
                      </a:r>
                    </a:p>
                  </a:txBody>
                  <a:tcPr/>
                </a:tc>
                <a:tc>
                  <a:txBody>
                    <a:bodyPr/>
                    <a:lstStyle/>
                    <a:p>
                      <a:pPr>
                        <a:defRPr sz="900"/>
                      </a:pPr>
                      <a:r>
                        <a:t>操舵トルクセンサ</a:t>
                      </a:r>
                    </a:p>
                  </a:txBody>
                  <a:tcPr/>
                </a:tc>
                <a:tc>
                  <a:txBody>
                    <a:bodyPr/>
                    <a:lstStyle/>
                    <a:p>
                      <a:pPr>
                        <a:defRPr sz="900"/>
                      </a:pPr>
                      <a:r>
                        <a:t>int16</a:t>
                      </a:r>
                    </a:p>
                  </a:txBody>
                  <a:tcPr/>
                </a:tc>
                <a:tc>
                  <a:txBody>
                    <a:bodyPr/>
                    <a:lstStyle/>
                    <a:p>
                      <a:pPr>
                        <a:defRPr sz="900"/>
                      </a:pPr>
                      <a:r>
                        <a:t>-10..10 N*m</a:t>
                      </a:r>
                    </a:p>
                  </a:txBody>
                  <a:tcPr/>
                </a:tc>
                <a:tc>
                  <a:txBody>
                    <a:bodyPr/>
                    <a:lstStyle/>
                    <a:p>
                      <a:pPr>
                        <a:defRPr sz="900"/>
                      </a:pPr>
                      <a:r>
                        <a:t>10 ms</a:t>
                      </a:r>
                    </a:p>
                  </a:txBody>
                  <a:tcPr/>
                </a:tc>
                <a:tc>
                  <a:txBody>
                    <a:bodyPr/>
                    <a:lstStyle/>
                    <a:p>
                      <a:pPr>
                        <a:defRPr sz="900"/>
                      </a:pPr>
                      <a:r>
                        <a:t>ドライバ操舵トルク</a:t>
                      </a:r>
                    </a:p>
                  </a:txBody>
                  <a:tcPr/>
                </a:tc>
                <a:extLst>
                  <a:ext uri="{0D108BD9-81ED-4DB2-BD59-A6C34878D82A}">
                    <a16:rowId xmlns:a16="http://schemas.microsoft.com/office/drawing/2014/main" val="10004"/>
                  </a:ext>
                </a:extLst>
              </a:tr>
              <a:tr h="274320">
                <a:tc>
                  <a:txBody>
                    <a:bodyPr/>
                    <a:lstStyle/>
                    <a:p>
                      <a:pPr>
                        <a:defRPr sz="900"/>
                      </a:pPr>
                      <a:r>
                        <a:t>I05</a:t>
                      </a:r>
                    </a:p>
                  </a:txBody>
                  <a:tcPr/>
                </a:tc>
                <a:tc>
                  <a:txBody>
                    <a:bodyPr/>
                    <a:lstStyle/>
                    <a:p>
                      <a:pPr>
                        <a:defRPr sz="900"/>
                      </a:pPr>
                      <a:r>
                        <a:t>LaneInfo</a:t>
                      </a:r>
                    </a:p>
                  </a:txBody>
                  <a:tcPr/>
                </a:tc>
                <a:tc>
                  <a:txBody>
                    <a:bodyPr/>
                    <a:lstStyle/>
                    <a:p>
                      <a:pPr>
                        <a:defRPr sz="900"/>
                      </a:pPr>
                      <a:r>
                        <a:t>In</a:t>
                      </a:r>
                    </a:p>
                  </a:txBody>
                  <a:tcPr/>
                </a:tc>
                <a:tc>
                  <a:txBody>
                    <a:bodyPr/>
                    <a:lstStyle/>
                    <a:p>
                      <a:pPr>
                        <a:defRPr sz="900"/>
                      </a:pPr>
                      <a:r>
                        <a:t>前方カメラ</a:t>
                      </a:r>
                    </a:p>
                  </a:txBody>
                  <a:tcPr/>
                </a:tc>
                <a:tc>
                  <a:txBody>
                    <a:bodyPr/>
                    <a:lstStyle/>
                    <a:p>
                      <a:pPr>
                        <a:defRPr sz="900"/>
                      </a:pPr>
                      <a:r>
                        <a:t>struct</a:t>
                      </a:r>
                    </a:p>
                  </a:txBody>
                  <a:tcPr/>
                </a:tc>
                <a:tc>
                  <a:txBody>
                    <a:bodyPr/>
                    <a:lstStyle/>
                    <a:p>
                      <a:pPr>
                        <a:defRPr sz="900"/>
                      </a:pPr>
                      <a:r>
                        <a:t>横偏差/ヨー角/曲率/信頼度</a:t>
                      </a:r>
                    </a:p>
                  </a:txBody>
                  <a:tcPr/>
                </a:tc>
                <a:tc>
                  <a:txBody>
                    <a:bodyPr/>
                    <a:lstStyle/>
                    <a:p>
                      <a:pPr>
                        <a:defRPr sz="900"/>
                      </a:pPr>
                      <a:r>
                        <a:t>33 ms</a:t>
                      </a:r>
                    </a:p>
                  </a:txBody>
                  <a:tcPr/>
                </a:tc>
                <a:tc>
                  <a:txBody>
                    <a:bodyPr/>
                    <a:lstStyle/>
                    <a:p>
                      <a:pPr>
                        <a:defRPr sz="900"/>
                      </a:pPr>
                      <a:r>
                        <a:t>車線情報</a:t>
                      </a:r>
                    </a:p>
                  </a:txBody>
                  <a:tcPr/>
                </a:tc>
                <a:extLst>
                  <a:ext uri="{0D108BD9-81ED-4DB2-BD59-A6C34878D82A}">
                    <a16:rowId xmlns:a16="http://schemas.microsoft.com/office/drawing/2014/main" val="10005"/>
                  </a:ext>
                </a:extLst>
              </a:tr>
              <a:tr h="274320">
                <a:tc>
                  <a:txBody>
                    <a:bodyPr/>
                    <a:lstStyle/>
                    <a:p>
                      <a:pPr>
                        <a:defRPr sz="900"/>
                      </a:pPr>
                      <a:r>
                        <a:t>I06</a:t>
                      </a:r>
                    </a:p>
                  </a:txBody>
                  <a:tcPr/>
                </a:tc>
                <a:tc>
                  <a:txBody>
                    <a:bodyPr/>
                    <a:lstStyle/>
                    <a:p>
                      <a:pPr>
                        <a:defRPr sz="900"/>
                      </a:pPr>
                      <a:r>
                        <a:t>TurnSignal</a:t>
                      </a:r>
                    </a:p>
                  </a:txBody>
                  <a:tcPr/>
                </a:tc>
                <a:tc>
                  <a:txBody>
                    <a:bodyPr/>
                    <a:lstStyle/>
                    <a:p>
                      <a:pPr>
                        <a:defRPr sz="900"/>
                      </a:pPr>
                      <a:r>
                        <a:t>In</a:t>
                      </a:r>
                    </a:p>
                  </a:txBody>
                  <a:tcPr/>
                </a:tc>
                <a:tc>
                  <a:txBody>
                    <a:bodyPr/>
                    <a:lstStyle/>
                    <a:p>
                      <a:pPr>
                        <a:defRPr sz="900"/>
                      </a:pPr>
                      <a:r>
                        <a:t>ボデーECU</a:t>
                      </a:r>
                    </a:p>
                  </a:txBody>
                  <a:tcPr/>
                </a:tc>
                <a:tc>
                  <a:txBody>
                    <a:bodyPr/>
                    <a:lstStyle/>
                    <a:p>
                      <a:pPr>
                        <a:defRPr sz="900"/>
                      </a:pPr>
                      <a:r>
                        <a:t>enum</a:t>
                      </a:r>
                    </a:p>
                  </a:txBody>
                  <a:tcPr/>
                </a:tc>
                <a:tc>
                  <a:txBody>
                    <a:bodyPr/>
                    <a:lstStyle/>
                    <a:p>
                      <a:pPr>
                        <a:defRPr sz="900"/>
                      </a:pPr>
                      <a:r>
                        <a:t>Off/Left/Right</a:t>
                      </a:r>
                    </a:p>
                  </a:txBody>
                  <a:tcPr/>
                </a:tc>
                <a:tc>
                  <a:txBody>
                    <a:bodyPr/>
                    <a:lstStyle/>
                    <a:p>
                      <a:pPr>
                        <a:defRPr sz="900"/>
                      </a:pPr>
                      <a:r>
                        <a:t>50 ms</a:t>
                      </a:r>
                    </a:p>
                  </a:txBody>
                  <a:tcPr/>
                </a:tc>
                <a:tc>
                  <a:txBody>
                    <a:bodyPr/>
                    <a:lstStyle/>
                    <a:p>
                      <a:pPr>
                        <a:defRPr sz="900"/>
                      </a:pPr>
                      <a:r>
                        <a:t>方向指示器状態</a:t>
                      </a:r>
                    </a:p>
                  </a:txBody>
                  <a:tcPr/>
                </a:tc>
                <a:extLst>
                  <a:ext uri="{0D108BD9-81ED-4DB2-BD59-A6C34878D82A}">
                    <a16:rowId xmlns:a16="http://schemas.microsoft.com/office/drawing/2014/main" val="10006"/>
                  </a:ext>
                </a:extLst>
              </a:tr>
              <a:tr h="274320">
                <a:tc>
                  <a:txBody>
                    <a:bodyPr/>
                    <a:lstStyle/>
                    <a:p>
                      <a:pPr>
                        <a:defRPr sz="900"/>
                      </a:pPr>
                      <a:r>
                        <a:t>I07</a:t>
                      </a:r>
                    </a:p>
                  </a:txBody>
                  <a:tcPr/>
                </a:tc>
                <a:tc>
                  <a:txBody>
                    <a:bodyPr/>
                    <a:lstStyle/>
                    <a:p>
                      <a:pPr>
                        <a:defRPr sz="900"/>
                      </a:pPr>
                      <a:r>
                        <a:t>SwitchInput</a:t>
                      </a:r>
                    </a:p>
                  </a:txBody>
                  <a:tcPr/>
                </a:tc>
                <a:tc>
                  <a:txBody>
                    <a:bodyPr/>
                    <a:lstStyle/>
                    <a:p>
                      <a:pPr>
                        <a:defRPr sz="900"/>
                      </a:pPr>
                      <a:r>
                        <a:t>In</a:t>
                      </a:r>
                    </a:p>
                  </a:txBody>
                  <a:tcPr/>
                </a:tc>
                <a:tc>
                  <a:txBody>
                    <a:bodyPr/>
                    <a:lstStyle/>
                    <a:p>
                      <a:pPr>
                        <a:defRPr sz="900"/>
                      </a:pPr>
                      <a:r>
                        <a:t>システムスイッチ</a:t>
                      </a:r>
                    </a:p>
                  </a:txBody>
                  <a:tcPr/>
                </a:tc>
                <a:tc>
                  <a:txBody>
                    <a:bodyPr/>
                    <a:lstStyle/>
                    <a:p>
                      <a:pPr>
                        <a:defRPr sz="900"/>
                      </a:pPr>
                      <a:r>
                        <a:t>bool</a:t>
                      </a:r>
                    </a:p>
                  </a:txBody>
                  <a:tcPr/>
                </a:tc>
                <a:tc>
                  <a:txBody>
                    <a:bodyPr/>
                    <a:lstStyle/>
                    <a:p>
                      <a:pPr>
                        <a:defRPr sz="900"/>
                      </a:pPr>
                      <a:r>
                        <a:t>0/1</a:t>
                      </a:r>
                    </a:p>
                  </a:txBody>
                  <a:tcPr/>
                </a:tc>
                <a:tc>
                  <a:txBody>
                    <a:bodyPr/>
                    <a:lstStyle/>
                    <a:p>
                      <a:pPr>
                        <a:defRPr sz="900"/>
                      </a:pPr>
                      <a:r>
                        <a:t>50 ms</a:t>
                      </a:r>
                    </a:p>
                  </a:txBody>
                  <a:tcPr/>
                </a:tc>
                <a:tc>
                  <a:txBody>
                    <a:bodyPr/>
                    <a:lstStyle/>
                    <a:p>
                      <a:pPr>
                        <a:defRPr sz="900"/>
                      </a:pPr>
                      <a:r>
                        <a:t>システムON/OFF入力</a:t>
                      </a:r>
                    </a:p>
                  </a:txBody>
                  <a:tcPr/>
                </a:tc>
                <a:extLst>
                  <a:ext uri="{0D108BD9-81ED-4DB2-BD59-A6C34878D82A}">
                    <a16:rowId xmlns:a16="http://schemas.microsoft.com/office/drawing/2014/main" val="10007"/>
                  </a:ext>
                </a:extLst>
              </a:tr>
              <a:tr h="274320">
                <a:tc>
                  <a:txBody>
                    <a:bodyPr/>
                    <a:lstStyle/>
                    <a:p>
                      <a:pPr>
                        <a:defRPr sz="900"/>
                      </a:pPr>
                      <a:r>
                        <a:t>I08</a:t>
                      </a:r>
                    </a:p>
                  </a:txBody>
                  <a:tcPr/>
                </a:tc>
                <a:tc>
                  <a:txBody>
                    <a:bodyPr/>
                    <a:lstStyle/>
                    <a:p>
                      <a:pPr>
                        <a:defRPr sz="900"/>
                      </a:pPr>
                      <a:r>
                        <a:t>AssistTorqueCmd</a:t>
                      </a:r>
                    </a:p>
                  </a:txBody>
                  <a:tcPr/>
                </a:tc>
                <a:tc>
                  <a:txBody>
                    <a:bodyPr/>
                    <a:lstStyle/>
                    <a:p>
                      <a:pPr>
                        <a:defRPr sz="900"/>
                      </a:pPr>
                      <a:r>
                        <a:t>Out</a:t>
                      </a:r>
                    </a:p>
                  </a:txBody>
                  <a:tcPr/>
                </a:tc>
                <a:tc>
                  <a:txBody>
                    <a:bodyPr/>
                    <a:lstStyle/>
                    <a:p>
                      <a:pPr>
                        <a:defRPr sz="900"/>
                      </a:pPr>
                      <a:r>
                        <a:t>EPS</a:t>
                      </a:r>
                    </a:p>
                  </a:txBody>
                  <a:tcPr/>
                </a:tc>
                <a:tc>
                  <a:txBody>
                    <a:bodyPr/>
                    <a:lstStyle/>
                    <a:p>
                      <a:pPr>
                        <a:defRPr sz="900"/>
                      </a:pPr>
                      <a:r>
                        <a:t>int16</a:t>
                      </a:r>
                    </a:p>
                  </a:txBody>
                  <a:tcPr/>
                </a:tc>
                <a:tc>
                  <a:txBody>
                    <a:bodyPr/>
                    <a:lstStyle/>
                    <a:p>
                      <a:pPr>
                        <a:defRPr sz="900"/>
                      </a:pPr>
                      <a:r>
                        <a:t>-3.0..3.0 N*m</a:t>
                      </a:r>
                    </a:p>
                  </a:txBody>
                  <a:tcPr/>
                </a:tc>
                <a:tc>
                  <a:txBody>
                    <a:bodyPr/>
                    <a:lstStyle/>
                    <a:p>
                      <a:pPr>
                        <a:defRPr sz="900"/>
                      </a:pPr>
                      <a:r>
                        <a:t>20 ms</a:t>
                      </a:r>
                    </a:p>
                  </a:txBody>
                  <a:tcPr/>
                </a:tc>
                <a:tc>
                  <a:txBody>
                    <a:bodyPr/>
                    <a:lstStyle/>
                    <a:p>
                      <a:pPr>
                        <a:defRPr sz="900"/>
                      </a:pPr>
                      <a:r>
                        <a:t>補助操舵トルク指令</a:t>
                      </a:r>
                    </a:p>
                  </a:txBody>
                  <a:tcPr/>
                </a:tc>
                <a:extLst>
                  <a:ext uri="{0D108BD9-81ED-4DB2-BD59-A6C34878D82A}">
                    <a16:rowId xmlns:a16="http://schemas.microsoft.com/office/drawing/2014/main" val="10008"/>
                  </a:ext>
                </a:extLst>
              </a:tr>
              <a:tr h="274320">
                <a:tc>
                  <a:txBody>
                    <a:bodyPr/>
                    <a:lstStyle/>
                    <a:p>
                      <a:pPr>
                        <a:defRPr sz="900"/>
                      </a:pPr>
                      <a:r>
                        <a:t>I09</a:t>
                      </a:r>
                    </a:p>
                  </a:txBody>
                  <a:tcPr/>
                </a:tc>
                <a:tc>
                  <a:txBody>
                    <a:bodyPr/>
                    <a:lstStyle/>
                    <a:p>
                      <a:pPr>
                        <a:defRPr sz="900"/>
                      </a:pPr>
                      <a:r>
                        <a:t>EnableStatus</a:t>
                      </a:r>
                    </a:p>
                  </a:txBody>
                  <a:tcPr/>
                </a:tc>
                <a:tc>
                  <a:txBody>
                    <a:bodyPr/>
                    <a:lstStyle/>
                    <a:p>
                      <a:pPr>
                        <a:defRPr sz="900"/>
                      </a:pPr>
                      <a:r>
                        <a:t>Out</a:t>
                      </a:r>
                    </a:p>
                  </a:txBody>
                  <a:tcPr/>
                </a:tc>
                <a:tc>
                  <a:txBody>
                    <a:bodyPr/>
                    <a:lstStyle/>
                    <a:p>
                      <a:pPr>
                        <a:defRPr sz="900"/>
                      </a:pPr>
                      <a:r>
                        <a:t>EPS</a:t>
                      </a:r>
                    </a:p>
                  </a:txBody>
                  <a:tcPr/>
                </a:tc>
                <a:tc>
                  <a:txBody>
                    <a:bodyPr/>
                    <a:lstStyle/>
                    <a:p>
                      <a:pPr>
                        <a:defRPr sz="900"/>
                      </a:pPr>
                      <a:r>
                        <a:t>bool</a:t>
                      </a:r>
                    </a:p>
                  </a:txBody>
                  <a:tcPr/>
                </a:tc>
                <a:tc>
                  <a:txBody>
                    <a:bodyPr/>
                    <a:lstStyle/>
                    <a:p>
                      <a:pPr>
                        <a:defRPr sz="900"/>
                      </a:pPr>
                      <a:r>
                        <a:t>0/1</a:t>
                      </a:r>
                    </a:p>
                  </a:txBody>
                  <a:tcPr/>
                </a:tc>
                <a:tc>
                  <a:txBody>
                    <a:bodyPr/>
                    <a:lstStyle/>
                    <a:p>
                      <a:pPr>
                        <a:defRPr sz="900"/>
                      </a:pPr>
                      <a:r>
                        <a:t>20 ms</a:t>
                      </a:r>
                    </a:p>
                  </a:txBody>
                  <a:tcPr/>
                </a:tc>
                <a:tc>
                  <a:txBody>
                    <a:bodyPr/>
                    <a:lstStyle/>
                    <a:p>
                      <a:pPr>
                        <a:defRPr sz="900"/>
                      </a:pPr>
                      <a:r>
                        <a:t>操舵介入許可</a:t>
                      </a:r>
                    </a:p>
                  </a:txBody>
                  <a:tcPr/>
                </a:tc>
                <a:extLst>
                  <a:ext uri="{0D108BD9-81ED-4DB2-BD59-A6C34878D82A}">
                    <a16:rowId xmlns:a16="http://schemas.microsoft.com/office/drawing/2014/main" val="10009"/>
                  </a:ext>
                </a:extLst>
              </a:tr>
              <a:tr h="274320">
                <a:tc>
                  <a:txBody>
                    <a:bodyPr/>
                    <a:lstStyle/>
                    <a:p>
                      <a:pPr>
                        <a:defRPr sz="900"/>
                      </a:pPr>
                      <a:r>
                        <a:t>I10</a:t>
                      </a:r>
                    </a:p>
                  </a:txBody>
                  <a:tcPr/>
                </a:tc>
                <a:tc>
                  <a:txBody>
                    <a:bodyPr/>
                    <a:lstStyle/>
                    <a:p>
                      <a:pPr>
                        <a:defRPr sz="900"/>
                      </a:pPr>
                      <a:r>
                        <a:t>LkasState</a:t>
                      </a:r>
                    </a:p>
                  </a:txBody>
                  <a:tcPr/>
                </a:tc>
                <a:tc>
                  <a:txBody>
                    <a:bodyPr/>
                    <a:lstStyle/>
                    <a:p>
                      <a:pPr>
                        <a:defRPr sz="900"/>
                      </a:pPr>
                      <a:r>
                        <a:t>Out</a:t>
                      </a:r>
                    </a:p>
                  </a:txBody>
                  <a:tcPr/>
                </a:tc>
                <a:tc>
                  <a:txBody>
                    <a:bodyPr/>
                    <a:lstStyle/>
                    <a:p>
                      <a:pPr>
                        <a:defRPr sz="900"/>
                      </a:pPr>
                      <a:r>
                        <a:t>メータ</a:t>
                      </a:r>
                    </a:p>
                  </a:txBody>
                  <a:tcPr/>
                </a:tc>
                <a:tc>
                  <a:txBody>
                    <a:bodyPr/>
                    <a:lstStyle/>
                    <a:p>
                      <a:pPr>
                        <a:defRPr sz="900"/>
                      </a:pPr>
                      <a:r>
                        <a:t>enum</a:t>
                      </a:r>
                    </a:p>
                  </a:txBody>
                  <a:tcPr/>
                </a:tc>
                <a:tc>
                  <a:txBody>
                    <a:bodyPr/>
                    <a:lstStyle/>
                    <a:p>
                      <a:pPr>
                        <a:defRPr sz="900"/>
                      </a:pPr>
                      <a:r>
                        <a:t>OFF/STANDBY/ACTIVE/OVERRIDE/FAULT</a:t>
                      </a:r>
                    </a:p>
                  </a:txBody>
                  <a:tcPr/>
                </a:tc>
                <a:tc>
                  <a:txBody>
                    <a:bodyPr/>
                    <a:lstStyle/>
                    <a:p>
                      <a:pPr>
                        <a:defRPr sz="900"/>
                      </a:pPr>
                      <a:r>
                        <a:t>100 ms</a:t>
                      </a:r>
                    </a:p>
                  </a:txBody>
                  <a:tcPr/>
                </a:tc>
                <a:tc>
                  <a:txBody>
                    <a:bodyPr/>
                    <a:lstStyle/>
                    <a:p>
                      <a:pPr>
                        <a:defRPr sz="900"/>
                      </a:pPr>
                      <a:r>
                        <a:t>作動状態表示</a:t>
                      </a:r>
                    </a:p>
                  </a:txBody>
                  <a:tcPr/>
                </a:tc>
                <a:extLst>
                  <a:ext uri="{0D108BD9-81ED-4DB2-BD59-A6C34878D82A}">
                    <a16:rowId xmlns:a16="http://schemas.microsoft.com/office/drawing/2014/main" val="10010"/>
                  </a:ext>
                </a:extLst>
              </a:tr>
              <a:tr h="274320">
                <a:tc>
                  <a:txBody>
                    <a:bodyPr/>
                    <a:lstStyle/>
                    <a:p>
                      <a:pPr>
                        <a:defRPr sz="900"/>
                      </a:pPr>
                      <a:r>
                        <a:t>I11</a:t>
                      </a:r>
                    </a:p>
                  </a:txBody>
                  <a:tcPr/>
                </a:tc>
                <a:tc>
                  <a:txBody>
                    <a:bodyPr/>
                    <a:lstStyle/>
                    <a:p>
                      <a:pPr>
                        <a:defRPr sz="900"/>
                      </a:pPr>
                      <a:r>
                        <a:t>WarnRequest</a:t>
                      </a:r>
                    </a:p>
                  </a:txBody>
                  <a:tcPr/>
                </a:tc>
                <a:tc>
                  <a:txBody>
                    <a:bodyPr/>
                    <a:lstStyle/>
                    <a:p>
                      <a:pPr>
                        <a:defRPr sz="900"/>
                      </a:pPr>
                      <a:r>
                        <a:t>Out</a:t>
                      </a:r>
                    </a:p>
                  </a:txBody>
                  <a:tcPr/>
                </a:tc>
                <a:tc>
                  <a:txBody>
                    <a:bodyPr/>
                    <a:lstStyle/>
                    <a:p>
                      <a:pPr>
                        <a:defRPr sz="900"/>
                      </a:pPr>
                      <a:r>
                        <a:t>メータ/ブザー</a:t>
                      </a:r>
                    </a:p>
                  </a:txBody>
                  <a:tcPr/>
                </a:tc>
                <a:tc>
                  <a:txBody>
                    <a:bodyPr/>
                    <a:lstStyle/>
                    <a:p>
                      <a:pPr>
                        <a:defRPr sz="900"/>
                      </a:pPr>
                      <a:r>
                        <a:t>bool</a:t>
                      </a:r>
                    </a:p>
                  </a:txBody>
                  <a:tcPr/>
                </a:tc>
                <a:tc>
                  <a:txBody>
                    <a:bodyPr/>
                    <a:lstStyle/>
                    <a:p>
                      <a:pPr>
                        <a:defRPr sz="900"/>
                      </a:pPr>
                      <a:r>
                        <a:t>0/1</a:t>
                      </a:r>
                    </a:p>
                  </a:txBody>
                  <a:tcPr/>
                </a:tc>
                <a:tc>
                  <a:txBody>
                    <a:bodyPr/>
                    <a:lstStyle/>
                    <a:p>
                      <a:pPr>
                        <a:defRPr sz="900"/>
                      </a:pPr>
                      <a:r>
                        <a:t>100 ms</a:t>
                      </a:r>
                    </a:p>
                  </a:txBody>
                  <a:tcPr/>
                </a:tc>
                <a:tc>
                  <a:txBody>
                    <a:bodyPr/>
                    <a:lstStyle/>
                    <a:p>
                      <a:pPr>
                        <a:defRPr sz="900"/>
                      </a:pPr>
                      <a:r>
                        <a:t>逸脱警報要求</a:t>
                      </a:r>
                    </a:p>
                  </a:txBody>
                  <a:tcPr/>
                </a:tc>
                <a:extLst>
                  <a:ext uri="{0D108BD9-81ED-4DB2-BD59-A6C34878D82A}">
                    <a16:rowId xmlns:a16="http://schemas.microsoft.com/office/drawing/2014/main" val="10011"/>
                  </a:ext>
                </a:extLst>
              </a:tr>
              <a:tr h="274320">
                <a:tc>
                  <a:txBody>
                    <a:bodyPr/>
                    <a:lstStyle/>
                    <a:p>
                      <a:pPr>
                        <a:defRPr sz="900"/>
                      </a:pPr>
                      <a:r>
                        <a:t>I12</a:t>
                      </a:r>
                    </a:p>
                  </a:txBody>
                  <a:tcPr/>
                </a:tc>
                <a:tc>
                  <a:txBody>
                    <a:bodyPr/>
                    <a:lstStyle/>
                    <a:p>
                      <a:pPr>
                        <a:defRPr sz="900"/>
                      </a:pPr>
                      <a:r>
                        <a:t>DTC</a:t>
                      </a:r>
                    </a:p>
                  </a:txBody>
                  <a:tcPr/>
                </a:tc>
                <a:tc>
                  <a:txBody>
                    <a:bodyPr/>
                    <a:lstStyle/>
                    <a:p>
                      <a:pPr>
                        <a:defRPr sz="900"/>
                      </a:pPr>
                      <a:r>
                        <a:t>Out</a:t>
                      </a:r>
                    </a:p>
                  </a:txBody>
                  <a:tcPr/>
                </a:tc>
                <a:tc>
                  <a:txBody>
                    <a:bodyPr/>
                    <a:lstStyle/>
                    <a:p>
                      <a:pPr>
                        <a:defRPr sz="900"/>
                      </a:pPr>
                      <a:r>
                        <a:t>診断</a:t>
                      </a:r>
                    </a:p>
                  </a:txBody>
                  <a:tcPr/>
                </a:tc>
                <a:tc>
                  <a:txBody>
                    <a:bodyPr/>
                    <a:lstStyle/>
                    <a:p>
                      <a:pPr>
                        <a:defRPr sz="900"/>
                      </a:pPr>
                      <a:r>
                        <a:t>uint16</a:t>
                      </a:r>
                    </a:p>
                  </a:txBody>
                  <a:tcPr/>
                </a:tc>
                <a:tc>
                  <a:txBody>
                    <a:bodyPr/>
                    <a:lstStyle/>
                    <a:p>
                      <a:pPr>
                        <a:defRPr sz="900"/>
                      </a:pPr>
                      <a:r>
                        <a:t>故障コード</a:t>
                      </a:r>
                    </a:p>
                  </a:txBody>
                  <a:tcPr/>
                </a:tc>
                <a:tc>
                  <a:txBody>
                    <a:bodyPr/>
                    <a:lstStyle/>
                    <a:p>
                      <a:pPr>
                        <a:defRPr sz="900"/>
                      </a:pPr>
                      <a:r>
                        <a:t>イベント時</a:t>
                      </a:r>
                    </a:p>
                  </a:txBody>
                  <a:tcPr/>
                </a:tc>
                <a:tc>
                  <a:txBody>
                    <a:bodyPr/>
                    <a:lstStyle/>
                    <a:p>
                      <a:pPr>
                        <a:defRPr sz="900"/>
                      </a:pPr>
                      <a:r>
                        <a:t>故障コード記録</a:t>
                      </a:r>
                    </a:p>
                  </a:txBody>
                  <a:tcPr/>
                </a:tc>
                <a:extLst>
                  <a:ext uri="{0D108BD9-81ED-4DB2-BD59-A6C34878D82A}">
                    <a16:rowId xmlns:a16="http://schemas.microsoft.com/office/drawing/2014/main" val="10012"/>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228600"/>
            <a:ext cx="11612880" cy="731520"/>
          </a:xfrm>
          <a:prstGeom prst="rect">
            <a:avLst/>
          </a:prstGeom>
          <a:noFill/>
        </p:spPr>
        <p:txBody>
          <a:bodyPr wrap="square">
            <a:spAutoFit/>
          </a:bodyPr>
          <a:lstStyle/>
          <a:p>
            <a:pPr>
              <a:defRPr sz="2400" b="1"/>
            </a:pPr>
            <a:r>
              <a:t>図5 LKAS作動状態表示画面(ACTIVE)</a:t>
            </a:r>
          </a:p>
        </p:txBody>
      </p:sp>
      <p:pic>
        <p:nvPicPr>
          <p:cNvPr id="3" name="Picture 2" descr="capture1.png"/>
          <p:cNvPicPr>
            <a:picLocks noChangeAspect="1"/>
          </p:cNvPicPr>
          <p:nvPr/>
        </p:nvPicPr>
        <p:blipFill>
          <a:blip r:embed="rId2"/>
          <a:stretch>
            <a:fillRect/>
          </a:stretch>
        </p:blipFill>
        <p:spPr>
          <a:xfrm>
            <a:off x="1645920" y="1188720"/>
            <a:ext cx="8869680" cy="49891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228600"/>
            <a:ext cx="11612880" cy="731520"/>
          </a:xfrm>
          <a:prstGeom prst="rect">
            <a:avLst/>
          </a:prstGeom>
          <a:noFill/>
        </p:spPr>
        <p:txBody>
          <a:bodyPr wrap="square">
            <a:spAutoFit/>
          </a:bodyPr>
          <a:lstStyle/>
          <a:p>
            <a:pPr>
              <a:defRPr sz="2400" b="1"/>
            </a:pPr>
            <a:r>
              <a:t>図6 車線逸脱警報表示画面</a:t>
            </a:r>
          </a:p>
        </p:txBody>
      </p:sp>
      <p:pic>
        <p:nvPicPr>
          <p:cNvPr id="3" name="Picture 2" descr="capture2.png"/>
          <p:cNvPicPr>
            <a:picLocks noChangeAspect="1"/>
          </p:cNvPicPr>
          <p:nvPr/>
        </p:nvPicPr>
        <p:blipFill>
          <a:blip r:embed="rId2"/>
          <a:stretch>
            <a:fillRect/>
          </a:stretch>
        </p:blipFill>
        <p:spPr>
          <a:xfrm>
            <a:off x="1645920" y="1188720"/>
            <a:ext cx="8869680" cy="498919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1216</Words>
  <Application>Microsoft Office PowerPoint</Application>
  <PresentationFormat>Widescreen</PresentationFormat>
  <Paragraphs>314</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GoodRelax</cp:lastModifiedBy>
  <cp:revision>1</cp:revision>
  <dcterms:created xsi:type="dcterms:W3CDTF">2013-01-27T09:14:16Z</dcterms:created>
  <dcterms:modified xsi:type="dcterms:W3CDTF">2026-06-18T22:52:36Z</dcterms:modified>
  <cp:category/>
</cp:coreProperties>
</file>